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Lst>
  <p:sldSz cx="18288000" cy="10287000"/>
  <p:notesSz cx="6858000" cy="9144000"/>
  <p:embeddedFontLst>
    <p:embeddedFont>
      <p:font typeface="League Spartan" charset="1" panose="00000800000000000000"/>
      <p:regular r:id="rId9"/>
    </p:embeddedFont>
    <p:embeddedFont>
      <p:font typeface="Sniglet" charset="1" panose="04070505030100020000"/>
      <p:regular r:id="rId10"/>
    </p:embeddedFont>
    <p:embeddedFont>
      <p:font typeface="Gagalin" charset="1" panose="00000500000000000000"/>
      <p:regular r:id="rId11"/>
    </p:embeddedFont>
    <p:embeddedFont>
      <p:font typeface="Canva Sans Bold" charset="1" panose="020B0803030501040103"/>
      <p:regular r:id="rId12"/>
    </p:embeddedFont>
    <p:embeddedFont>
      <p:font typeface="Canva Sans" charset="1" panose="020B0503030501040103"/>
      <p:regular r:id="rId13"/>
    </p:embeddedFont>
    <p:embeddedFont>
      <p:font typeface="Hitchcut" charset="1" panose="000005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12" Target="../media/image18.png" Type="http://schemas.openxmlformats.org/officeDocument/2006/relationships/image"/><Relationship Id="rId13" Target="../media/image19.svg" Type="http://schemas.openxmlformats.org/officeDocument/2006/relationships/image"/><Relationship Id="rId14" Target="../media/image20.png" Type="http://schemas.openxmlformats.org/officeDocument/2006/relationships/image"/><Relationship Id="rId15" Target="../media/image21.svg" Type="http://schemas.openxmlformats.org/officeDocument/2006/relationships/image"/><Relationship Id="rId16" Target="../media/image22.png" Type="http://schemas.openxmlformats.org/officeDocument/2006/relationships/image"/><Relationship Id="rId17" Target="../media/image23.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9E8"/>
        </a:solidFill>
      </p:bgPr>
    </p:bg>
    <p:spTree>
      <p:nvGrpSpPr>
        <p:cNvPr id="1" name=""/>
        <p:cNvGrpSpPr/>
        <p:nvPr/>
      </p:nvGrpSpPr>
      <p:grpSpPr>
        <a:xfrm>
          <a:off x="0" y="0"/>
          <a:ext cx="0" cy="0"/>
          <a:chOff x="0" y="0"/>
          <a:chExt cx="0" cy="0"/>
        </a:xfrm>
      </p:grpSpPr>
      <p:grpSp>
        <p:nvGrpSpPr>
          <p:cNvPr name="Group 2" id="2"/>
          <p:cNvGrpSpPr/>
          <p:nvPr/>
        </p:nvGrpSpPr>
        <p:grpSpPr>
          <a:xfrm rot="0">
            <a:off x="-761592" y="8743950"/>
            <a:ext cx="20530423" cy="3086100"/>
            <a:chOff x="0" y="0"/>
            <a:chExt cx="5407190" cy="812800"/>
          </a:xfrm>
        </p:grpSpPr>
        <p:sp>
          <p:nvSpPr>
            <p:cNvPr name="Freeform 3" id="3"/>
            <p:cNvSpPr/>
            <p:nvPr/>
          </p:nvSpPr>
          <p:spPr>
            <a:xfrm flipH="false" flipV="false" rot="0">
              <a:off x="0" y="0"/>
              <a:ext cx="5407190" cy="812800"/>
            </a:xfrm>
            <a:custGeom>
              <a:avLst/>
              <a:gdLst/>
              <a:ahLst/>
              <a:cxnLst/>
              <a:rect r="r" b="b" t="t" l="l"/>
              <a:pathLst>
                <a:path h="812800" w="5407190">
                  <a:moveTo>
                    <a:pt x="0" y="0"/>
                  </a:moveTo>
                  <a:lnTo>
                    <a:pt x="5407190" y="0"/>
                  </a:lnTo>
                  <a:lnTo>
                    <a:pt x="5407190" y="812800"/>
                  </a:lnTo>
                  <a:lnTo>
                    <a:pt x="0" y="812800"/>
                  </a:lnTo>
                  <a:close/>
                </a:path>
              </a:pathLst>
            </a:custGeom>
            <a:solidFill>
              <a:srgbClr val="0BA595"/>
            </a:solidFill>
          </p:spPr>
        </p:sp>
        <p:sp>
          <p:nvSpPr>
            <p:cNvPr name="TextBox 4" id="4"/>
            <p:cNvSpPr txBox="true"/>
            <p:nvPr/>
          </p:nvSpPr>
          <p:spPr>
            <a:xfrm>
              <a:off x="0" y="38100"/>
              <a:ext cx="5407190" cy="774700"/>
            </a:xfrm>
            <a:prstGeom prst="rect">
              <a:avLst/>
            </a:prstGeom>
          </p:spPr>
          <p:txBody>
            <a:bodyPr anchor="ctr" rtlCol="false" tIns="50800" lIns="50800" bIns="50800" rIns="50800"/>
            <a:lstStyle/>
            <a:p>
              <a:pPr algn="ctr">
                <a:lnSpc>
                  <a:spcPts val="2300"/>
                </a:lnSpc>
              </a:pPr>
            </a:p>
          </p:txBody>
        </p:sp>
      </p:grpSp>
      <p:sp>
        <p:nvSpPr>
          <p:cNvPr name="Freeform 5" id="5"/>
          <p:cNvSpPr/>
          <p:nvPr/>
        </p:nvSpPr>
        <p:spPr>
          <a:xfrm flipH="false" flipV="false" rot="0">
            <a:off x="2808377" y="2365892"/>
            <a:ext cx="1216393" cy="1225305"/>
          </a:xfrm>
          <a:custGeom>
            <a:avLst/>
            <a:gdLst/>
            <a:ahLst/>
            <a:cxnLst/>
            <a:rect r="r" b="b" t="t" l="l"/>
            <a:pathLst>
              <a:path h="1225305" w="1216393">
                <a:moveTo>
                  <a:pt x="0" y="0"/>
                </a:moveTo>
                <a:lnTo>
                  <a:pt x="1216394" y="0"/>
                </a:lnTo>
                <a:lnTo>
                  <a:pt x="1216394" y="1225305"/>
                </a:lnTo>
                <a:lnTo>
                  <a:pt x="0" y="12253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26628" y="2978545"/>
            <a:ext cx="3038963" cy="7204438"/>
          </a:xfrm>
          <a:custGeom>
            <a:avLst/>
            <a:gdLst/>
            <a:ahLst/>
            <a:cxnLst/>
            <a:rect r="r" b="b" t="t" l="l"/>
            <a:pathLst>
              <a:path h="7204438" w="3038963">
                <a:moveTo>
                  <a:pt x="0" y="0"/>
                </a:moveTo>
                <a:lnTo>
                  <a:pt x="3038963" y="0"/>
                </a:lnTo>
                <a:lnTo>
                  <a:pt x="3038963" y="7204438"/>
                </a:lnTo>
                <a:lnTo>
                  <a:pt x="0" y="72044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332834" y="311104"/>
            <a:ext cx="2167480" cy="1910893"/>
          </a:xfrm>
          <a:custGeom>
            <a:avLst/>
            <a:gdLst/>
            <a:ahLst/>
            <a:cxnLst/>
            <a:rect r="r" b="b" t="t" l="l"/>
            <a:pathLst>
              <a:path h="1910893" w="2167480">
                <a:moveTo>
                  <a:pt x="0" y="0"/>
                </a:moveTo>
                <a:lnTo>
                  <a:pt x="2167480" y="0"/>
                </a:lnTo>
                <a:lnTo>
                  <a:pt x="2167480" y="1910893"/>
                </a:lnTo>
                <a:lnTo>
                  <a:pt x="0" y="19108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525300" y="5697933"/>
            <a:ext cx="3631615" cy="3046017"/>
          </a:xfrm>
          <a:custGeom>
            <a:avLst/>
            <a:gdLst/>
            <a:ahLst/>
            <a:cxnLst/>
            <a:rect r="r" b="b" t="t" l="l"/>
            <a:pathLst>
              <a:path h="3046017" w="3631615">
                <a:moveTo>
                  <a:pt x="0" y="0"/>
                </a:moveTo>
                <a:lnTo>
                  <a:pt x="3631615" y="0"/>
                </a:lnTo>
                <a:lnTo>
                  <a:pt x="3631615" y="3046017"/>
                </a:lnTo>
                <a:lnTo>
                  <a:pt x="0" y="3046017"/>
                </a:lnTo>
                <a:lnTo>
                  <a:pt x="0" y="0"/>
                </a:lnTo>
                <a:close/>
              </a:path>
            </a:pathLst>
          </a:custGeom>
          <a:blipFill>
            <a:blip r:embed="rId8"/>
            <a:stretch>
              <a:fillRect l="0" t="0" r="0" b="0"/>
            </a:stretch>
          </a:blipFill>
        </p:spPr>
      </p:sp>
      <p:sp>
        <p:nvSpPr>
          <p:cNvPr name="TextBox 9" id="9"/>
          <p:cNvSpPr txBox="true"/>
          <p:nvPr/>
        </p:nvSpPr>
        <p:spPr>
          <a:xfrm rot="0">
            <a:off x="4253856" y="1747215"/>
            <a:ext cx="12786805" cy="2235684"/>
          </a:xfrm>
          <a:prstGeom prst="rect">
            <a:avLst/>
          </a:prstGeom>
        </p:spPr>
        <p:txBody>
          <a:bodyPr anchor="t" rtlCol="false" tIns="0" lIns="0" bIns="0" rIns="0">
            <a:spAutoFit/>
          </a:bodyPr>
          <a:lstStyle/>
          <a:p>
            <a:pPr algn="ctr">
              <a:lnSpc>
                <a:spcPts val="8446"/>
              </a:lnSpc>
            </a:pPr>
            <a:r>
              <a:rPr lang="en-US" sz="9708">
                <a:solidFill>
                  <a:srgbClr val="000000"/>
                </a:solidFill>
                <a:latin typeface="League Spartan"/>
                <a:ea typeface="League Spartan"/>
                <a:cs typeface="League Spartan"/>
                <a:sym typeface="League Spartan"/>
              </a:rPr>
              <a:t>HOMESTAY XYZ BOOKING SYSTEM</a:t>
            </a:r>
          </a:p>
        </p:txBody>
      </p:sp>
      <p:sp>
        <p:nvSpPr>
          <p:cNvPr name="TextBox 10" id="10"/>
          <p:cNvSpPr txBox="true"/>
          <p:nvPr/>
        </p:nvSpPr>
        <p:spPr>
          <a:xfrm rot="0">
            <a:off x="6988478" y="448310"/>
            <a:ext cx="6722765" cy="580390"/>
          </a:xfrm>
          <a:prstGeom prst="rect">
            <a:avLst/>
          </a:prstGeom>
        </p:spPr>
        <p:txBody>
          <a:bodyPr anchor="t" rtlCol="false" tIns="0" lIns="0" bIns="0" rIns="0">
            <a:spAutoFit/>
          </a:bodyPr>
          <a:lstStyle/>
          <a:p>
            <a:pPr algn="ctr">
              <a:lnSpc>
                <a:spcPts val="4759"/>
              </a:lnSpc>
              <a:spcBef>
                <a:spcPct val="0"/>
              </a:spcBef>
            </a:pPr>
            <a:r>
              <a:rPr lang="en-US" sz="3399">
                <a:solidFill>
                  <a:srgbClr val="FFF9E8"/>
                </a:solidFill>
                <a:latin typeface="Sniglet"/>
                <a:ea typeface="Sniglet"/>
                <a:cs typeface="Sniglet"/>
                <a:sym typeface="Sniglet"/>
              </a:rPr>
              <a:t>Group 7 :</a:t>
            </a:r>
          </a:p>
        </p:txBody>
      </p:sp>
      <p:sp>
        <p:nvSpPr>
          <p:cNvPr name="TextBox 11" id="11"/>
          <p:cNvSpPr txBox="true"/>
          <p:nvPr/>
        </p:nvSpPr>
        <p:spPr>
          <a:xfrm rot="0">
            <a:off x="6052895" y="4382224"/>
            <a:ext cx="8593931" cy="3559174"/>
          </a:xfrm>
          <a:prstGeom prst="rect">
            <a:avLst/>
          </a:prstGeom>
        </p:spPr>
        <p:txBody>
          <a:bodyPr anchor="t" rtlCol="false" tIns="0" lIns="0" bIns="0" rIns="0">
            <a:spAutoFit/>
          </a:bodyPr>
          <a:lstStyle/>
          <a:p>
            <a:pPr algn="l">
              <a:lnSpc>
                <a:spcPts val="3999"/>
              </a:lnSpc>
              <a:spcBef>
                <a:spcPct val="0"/>
              </a:spcBef>
            </a:pPr>
            <a:r>
              <a:rPr lang="en-US" sz="3999">
                <a:solidFill>
                  <a:srgbClr val="2C2F6F"/>
                </a:solidFill>
                <a:latin typeface="Gagalin"/>
                <a:ea typeface="Gagalin"/>
                <a:cs typeface="Gagalin"/>
                <a:sym typeface="Gagalin"/>
              </a:rPr>
              <a:t>Choh Jing Yi</a:t>
            </a:r>
          </a:p>
          <a:p>
            <a:pPr algn="l">
              <a:lnSpc>
                <a:spcPts val="3999"/>
              </a:lnSpc>
              <a:spcBef>
                <a:spcPct val="0"/>
              </a:spcBef>
            </a:pPr>
          </a:p>
          <a:p>
            <a:pPr algn="l">
              <a:lnSpc>
                <a:spcPts val="3999"/>
              </a:lnSpc>
              <a:spcBef>
                <a:spcPct val="0"/>
              </a:spcBef>
            </a:pPr>
            <a:r>
              <a:rPr lang="en-US" sz="3999">
                <a:solidFill>
                  <a:srgbClr val="2C2F6F"/>
                </a:solidFill>
                <a:latin typeface="Gagalin"/>
                <a:ea typeface="Gagalin"/>
                <a:cs typeface="Gagalin"/>
                <a:sym typeface="Gagalin"/>
              </a:rPr>
              <a:t>Joanne Ching Yin Xuan</a:t>
            </a:r>
          </a:p>
          <a:p>
            <a:pPr algn="l">
              <a:lnSpc>
                <a:spcPts val="3999"/>
              </a:lnSpc>
              <a:spcBef>
                <a:spcPct val="0"/>
              </a:spcBef>
            </a:pPr>
          </a:p>
          <a:p>
            <a:pPr algn="l">
              <a:lnSpc>
                <a:spcPts val="3999"/>
              </a:lnSpc>
              <a:spcBef>
                <a:spcPct val="0"/>
              </a:spcBef>
            </a:pPr>
            <a:r>
              <a:rPr lang="en-US" sz="3999">
                <a:solidFill>
                  <a:srgbClr val="2C2F6F"/>
                </a:solidFill>
                <a:latin typeface="Gagalin"/>
                <a:ea typeface="Gagalin"/>
                <a:cs typeface="Gagalin"/>
                <a:sym typeface="Gagalin"/>
              </a:rPr>
              <a:t>Muhammad Afiq Danish bin Mohd Hazni</a:t>
            </a:r>
          </a:p>
          <a:p>
            <a:pPr algn="l">
              <a:lnSpc>
                <a:spcPts val="3999"/>
              </a:lnSpc>
              <a:spcBef>
                <a:spcPct val="0"/>
              </a:spcBef>
            </a:pPr>
          </a:p>
          <a:p>
            <a:pPr algn="l">
              <a:lnSpc>
                <a:spcPts val="3999"/>
              </a:lnSpc>
              <a:spcBef>
                <a:spcPct val="0"/>
              </a:spcBef>
            </a:pPr>
            <a:r>
              <a:rPr lang="en-US" sz="3999">
                <a:solidFill>
                  <a:srgbClr val="2C2F6F"/>
                </a:solidFill>
                <a:latin typeface="Gagalin"/>
                <a:ea typeface="Gagalin"/>
                <a:cs typeface="Gagalin"/>
                <a:sym typeface="Gagalin"/>
              </a:rPr>
              <a:t>Tan Sheau Jun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9E8"/>
        </a:solidFill>
      </p:bgPr>
    </p:bg>
    <p:spTree>
      <p:nvGrpSpPr>
        <p:cNvPr id="1" name=""/>
        <p:cNvGrpSpPr/>
        <p:nvPr/>
      </p:nvGrpSpPr>
      <p:grpSpPr>
        <a:xfrm>
          <a:off x="0" y="0"/>
          <a:ext cx="0" cy="0"/>
          <a:chOff x="0" y="0"/>
          <a:chExt cx="0" cy="0"/>
        </a:xfrm>
      </p:grpSpPr>
      <p:sp>
        <p:nvSpPr>
          <p:cNvPr name="Freeform 2" id="2"/>
          <p:cNvSpPr/>
          <p:nvPr/>
        </p:nvSpPr>
        <p:spPr>
          <a:xfrm flipH="false" flipV="false" rot="0">
            <a:off x="-114512" y="-2851231"/>
            <a:ext cx="19390899" cy="19390899"/>
          </a:xfrm>
          <a:custGeom>
            <a:avLst/>
            <a:gdLst/>
            <a:ahLst/>
            <a:cxnLst/>
            <a:rect r="r" b="b" t="t" l="l"/>
            <a:pathLst>
              <a:path h="19390899" w="19390899">
                <a:moveTo>
                  <a:pt x="0" y="0"/>
                </a:moveTo>
                <a:lnTo>
                  <a:pt x="19390899" y="0"/>
                </a:lnTo>
                <a:lnTo>
                  <a:pt x="19390899" y="19390899"/>
                </a:lnTo>
                <a:lnTo>
                  <a:pt x="0" y="19390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3" id="3"/>
          <p:cNvGraphicFramePr>
            <a:graphicFrameLocks noGrp="true"/>
          </p:cNvGraphicFramePr>
          <p:nvPr/>
        </p:nvGraphicFramePr>
        <p:xfrm>
          <a:off x="147551" y="722293"/>
          <a:ext cx="17588349" cy="9420225"/>
        </p:xfrm>
        <a:graphic>
          <a:graphicData uri="http://schemas.openxmlformats.org/drawingml/2006/table">
            <a:tbl>
              <a:tblPr/>
              <a:tblGrid>
                <a:gridCol w="7294543"/>
                <a:gridCol w="10293806"/>
              </a:tblGrid>
              <a:tr h="2237901">
                <a:tc>
                  <a:txBody>
                    <a:bodyPr anchor="t" rtlCol="false"/>
                    <a:lstStyle/>
                    <a:p>
                      <a:pPr algn="l">
                        <a:lnSpc>
                          <a:spcPts val="3499"/>
                        </a:lnSpc>
                        <a:defRPr/>
                      </a:pPr>
                      <a:r>
                        <a:rPr lang="en-US" sz="2499">
                          <a:solidFill>
                            <a:srgbClr val="000000"/>
                          </a:solidFill>
                          <a:latin typeface="League Spartan"/>
                          <a:ea typeface="League Spartan"/>
                          <a:cs typeface="League Spartan"/>
                          <a:sym typeface="League Spartan"/>
                        </a:rPr>
                        <a:t>Choh Jing Yi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Canva Sans Bold"/>
                          <a:ea typeface="Canva Sans Bold"/>
                          <a:cs typeface="Canva Sans Bold"/>
                          <a:sym typeface="Canva Sans Bold"/>
                        </a:rPr>
                        <a:t>Mini Project Coordinator</a:t>
                      </a:r>
                      <a:endParaRPr lang="en-US" sz="1100"/>
                    </a:p>
                    <a:p>
                      <a:pPr algn="l" marL="431801" indent="-215900" lvl="1">
                        <a:lnSpc>
                          <a:spcPts val="2800"/>
                        </a:lnSpc>
                        <a:buFont typeface="Arial"/>
                        <a:buChar char="•"/>
                      </a:pPr>
                      <a:r>
                        <a:rPr lang="en-US" sz="2000">
                          <a:solidFill>
                            <a:srgbClr val="000000"/>
                          </a:solidFill>
                          <a:latin typeface="Canva Sans"/>
                          <a:ea typeface="Canva Sans"/>
                          <a:cs typeface="Canva Sans"/>
                          <a:sym typeface="Canva Sans"/>
                        </a:rPr>
                        <a:t>Task Distribution</a:t>
                      </a:r>
                    </a:p>
                    <a:p>
                      <a:pPr algn="l" marL="431801" indent="-215900" lvl="1">
                        <a:lnSpc>
                          <a:spcPts val="2800"/>
                        </a:lnSpc>
                        <a:buFont typeface="Arial"/>
                        <a:buChar char="•"/>
                      </a:pPr>
                      <a:r>
                        <a:rPr lang="en-US" sz="2000">
                          <a:solidFill>
                            <a:srgbClr val="000000"/>
                          </a:solidFill>
                          <a:latin typeface="Canva Sans"/>
                          <a:ea typeface="Canva Sans"/>
                          <a:cs typeface="Canva Sans"/>
                          <a:sym typeface="Canva Sans"/>
                        </a:rPr>
                        <a:t>Outline objective of case study</a:t>
                      </a:r>
                    </a:p>
                    <a:p>
                      <a:pPr algn="l" marL="431801" indent="-215900" lvl="1">
                        <a:lnSpc>
                          <a:spcPts val="2800"/>
                        </a:lnSpc>
                        <a:buFont typeface="Arial"/>
                        <a:buChar char="•"/>
                      </a:pPr>
                      <a:r>
                        <a:rPr lang="en-US" sz="2000">
                          <a:solidFill>
                            <a:srgbClr val="000000"/>
                          </a:solidFill>
                          <a:latin typeface="Canva Sans"/>
                          <a:ea typeface="Canva Sans"/>
                          <a:cs typeface="Canva Sans"/>
                          <a:sym typeface="Canva Sans"/>
                        </a:rPr>
                        <a:t>Develop Code</a:t>
                      </a:r>
                    </a:p>
                    <a:p>
                      <a:pPr algn="l" marL="431801" indent="-215900" lvl="1">
                        <a:lnSpc>
                          <a:spcPts val="2800"/>
                        </a:lnSpc>
                        <a:buFont typeface="Arial"/>
                        <a:buChar char="•"/>
                      </a:pPr>
                      <a:r>
                        <a:rPr lang="en-US" sz="2000">
                          <a:solidFill>
                            <a:srgbClr val="000000"/>
                          </a:solidFill>
                          <a:latin typeface="Canva Sans"/>
                          <a:ea typeface="Canva Sans"/>
                          <a:cs typeface="Canva Sans"/>
                          <a:sym typeface="Canva Sans"/>
                        </a:rPr>
                        <a:t>Complete Meeting Log</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352665">
                <a:tc>
                  <a:txBody>
                    <a:bodyPr anchor="t" rtlCol="false"/>
                    <a:lstStyle/>
                    <a:p>
                      <a:pPr algn="l">
                        <a:lnSpc>
                          <a:spcPts val="3499"/>
                        </a:lnSpc>
                        <a:defRPr/>
                      </a:pPr>
                      <a:r>
                        <a:rPr lang="en-US" sz="2499">
                          <a:solidFill>
                            <a:srgbClr val="000000"/>
                          </a:solidFill>
                          <a:latin typeface="League Spartan"/>
                          <a:ea typeface="League Spartan"/>
                          <a:cs typeface="League Spartan"/>
                          <a:sym typeface="League Spartan"/>
                        </a:rPr>
                        <a:t>Joanne Ching Yin Xuan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400"/>
                        </a:lnSpc>
                        <a:defRPr/>
                      </a:pPr>
                      <a:r>
                        <a:rPr lang="en-US" sz="2000" spc="34" b="true">
                          <a:solidFill>
                            <a:srgbClr val="000000"/>
                          </a:solidFill>
                          <a:latin typeface="Canva Sans Bold"/>
                          <a:ea typeface="Canva Sans Bold"/>
                          <a:cs typeface="Canva Sans Bold"/>
                          <a:sym typeface="Canva Sans Bold"/>
                        </a:rPr>
                        <a:t>System Designer</a:t>
                      </a:r>
                      <a:endParaRPr lang="en-US" sz="1100"/>
                    </a:p>
                    <a:p>
                      <a:pPr algn="l" marL="431801" indent="-215900" lvl="1">
                        <a:lnSpc>
                          <a:spcPts val="2400"/>
                        </a:lnSpc>
                        <a:buFont typeface="Arial"/>
                        <a:buChar char="•"/>
                      </a:pPr>
                      <a:r>
                        <a:rPr lang="en-US" sz="2000" spc="34">
                          <a:solidFill>
                            <a:srgbClr val="000000"/>
                          </a:solidFill>
                          <a:latin typeface="Canva Sans"/>
                          <a:ea typeface="Canva Sans"/>
                          <a:cs typeface="Canva Sans"/>
                          <a:sym typeface="Canva Sans"/>
                        </a:rPr>
                        <a:t>Finalize System requirement,analysis and design</a:t>
                      </a:r>
                    </a:p>
                    <a:p>
                      <a:pPr algn="l" marL="431801" indent="-215900" lvl="1">
                        <a:lnSpc>
                          <a:spcPts val="2400"/>
                        </a:lnSpc>
                        <a:buFont typeface="Arial"/>
                        <a:buChar char="•"/>
                      </a:pPr>
                      <a:r>
                        <a:rPr lang="en-US" sz="2000" spc="34">
                          <a:solidFill>
                            <a:srgbClr val="000000"/>
                          </a:solidFill>
                          <a:latin typeface="Canva Sans"/>
                          <a:ea typeface="Canva Sans"/>
                          <a:cs typeface="Canva Sans"/>
                          <a:sym typeface="Canva Sans"/>
                        </a:rPr>
                        <a:t>D</a:t>
                      </a:r>
                      <a:r>
                        <a:rPr lang="en-US" sz="2000" spc="34">
                          <a:solidFill>
                            <a:srgbClr val="000000"/>
                          </a:solidFill>
                          <a:latin typeface="Canva Sans"/>
                          <a:ea typeface="Canva Sans"/>
                          <a:cs typeface="Canva Sans"/>
                          <a:sym typeface="Canva Sans"/>
                        </a:rPr>
                        <a:t>esign the system</a:t>
                      </a:r>
                    </a:p>
                    <a:p>
                      <a:pPr algn="l" marL="431801" indent="-215900" lvl="1">
                        <a:lnSpc>
                          <a:spcPts val="2400"/>
                        </a:lnSpc>
                        <a:buFont typeface="Arial"/>
                        <a:buChar char="•"/>
                      </a:pPr>
                      <a:r>
                        <a:rPr lang="en-US" sz="2000" spc="34">
                          <a:solidFill>
                            <a:srgbClr val="000000"/>
                          </a:solidFill>
                          <a:latin typeface="Canva Sans"/>
                          <a:ea typeface="Canva Sans"/>
                          <a:cs typeface="Canva Sans"/>
                          <a:sym typeface="Canva Sans"/>
                        </a:rPr>
                        <a:t>Develop Code</a:t>
                      </a:r>
                    </a:p>
                    <a:p>
                      <a:pPr algn="l" marL="431801" indent="-215900" lvl="1">
                        <a:lnSpc>
                          <a:spcPts val="2400"/>
                        </a:lnSpc>
                        <a:buFont typeface="Arial"/>
                        <a:buChar char="•"/>
                      </a:pPr>
                      <a:r>
                        <a:rPr lang="en-US" sz="2000" spc="34">
                          <a:solidFill>
                            <a:srgbClr val="000000"/>
                          </a:solidFill>
                          <a:latin typeface="Canva Sans"/>
                          <a:ea typeface="Canva Sans"/>
                          <a:cs typeface="Canva Sans"/>
                          <a:sym typeface="Canva Sans"/>
                        </a:rPr>
                        <a:t>Finalize all code</a:t>
                      </a:r>
                    </a:p>
                    <a:p>
                      <a:pPr algn="l">
                        <a:lnSpc>
                          <a:spcPts val="240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237901">
                <a:tc>
                  <a:txBody>
                    <a:bodyPr anchor="t" rtlCol="false"/>
                    <a:lstStyle/>
                    <a:p>
                      <a:pPr algn="l">
                        <a:lnSpc>
                          <a:spcPts val="3499"/>
                        </a:lnSpc>
                        <a:defRPr/>
                      </a:pPr>
                      <a:r>
                        <a:rPr lang="en-US" sz="2499">
                          <a:solidFill>
                            <a:srgbClr val="000000"/>
                          </a:solidFill>
                          <a:latin typeface="League Spartan"/>
                          <a:ea typeface="League Spartan"/>
                          <a:cs typeface="League Spartan"/>
                          <a:sym typeface="League Spartan"/>
                        </a:rPr>
                        <a:t>Muhammad Afiq Danish bin Mohd Hazni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800"/>
                        </a:lnSpc>
                        <a:defRPr/>
                      </a:pPr>
                      <a:r>
                        <a:rPr lang="en-US" sz="2000" b="true">
                          <a:solidFill>
                            <a:srgbClr val="000000"/>
                          </a:solidFill>
                          <a:latin typeface="Canva Sans Bold"/>
                          <a:ea typeface="Canva Sans Bold"/>
                          <a:cs typeface="Canva Sans Bold"/>
                          <a:sym typeface="Canva Sans Bold"/>
                        </a:rPr>
                        <a:t>System Analyst </a:t>
                      </a:r>
                      <a:endParaRPr lang="en-US" sz="1100"/>
                    </a:p>
                    <a:p>
                      <a:pPr algn="l" marL="431801" indent="-215900" lvl="1">
                        <a:lnSpc>
                          <a:spcPts val="2800"/>
                        </a:lnSpc>
                        <a:buFont typeface="Arial"/>
                        <a:buChar char="•"/>
                      </a:pPr>
                      <a:r>
                        <a:rPr lang="en-US" sz="2000">
                          <a:solidFill>
                            <a:srgbClr val="000000"/>
                          </a:solidFill>
                          <a:latin typeface="Canva Sans"/>
                          <a:ea typeface="Canva Sans"/>
                          <a:cs typeface="Canva Sans"/>
                          <a:sym typeface="Canva Sans"/>
                        </a:rPr>
                        <a:t>Documentation of requirements and analysis</a:t>
                      </a:r>
                    </a:p>
                    <a:p>
                      <a:pPr algn="l" marL="431801" indent="-215900" lvl="1">
                        <a:lnSpc>
                          <a:spcPts val="2800"/>
                        </a:lnSpc>
                        <a:buFont typeface="Arial"/>
                        <a:buChar char="•"/>
                      </a:pPr>
                      <a:r>
                        <a:rPr lang="en-US" sz="2000">
                          <a:solidFill>
                            <a:srgbClr val="000000"/>
                          </a:solidFill>
                          <a:latin typeface="Canva Sans"/>
                          <a:ea typeface="Canva Sans"/>
                          <a:cs typeface="Canva Sans"/>
                          <a:sym typeface="Canva Sans"/>
                        </a:rPr>
                        <a:t>Develop UML </a:t>
                      </a:r>
                      <a:r>
                        <a:rPr lang="en-US" sz="2000">
                          <a:solidFill>
                            <a:srgbClr val="000000"/>
                          </a:solidFill>
                          <a:latin typeface="Canva Sans"/>
                          <a:ea typeface="Canva Sans"/>
                          <a:cs typeface="Canva Sans"/>
                          <a:sym typeface="Canva Sans"/>
                        </a:rPr>
                        <a:t>class and use case diagram of Homestay XYZ Booking System</a:t>
                      </a:r>
                    </a:p>
                    <a:p>
                      <a:pPr algn="l" marL="431801" indent="-215900" lvl="1">
                        <a:lnSpc>
                          <a:spcPts val="2800"/>
                        </a:lnSpc>
                        <a:buFont typeface="Arial"/>
                        <a:buChar char="•"/>
                      </a:pPr>
                      <a:r>
                        <a:rPr lang="en-US" sz="2000">
                          <a:solidFill>
                            <a:srgbClr val="000000"/>
                          </a:solidFill>
                          <a:latin typeface="Canva Sans"/>
                          <a:ea typeface="Canva Sans"/>
                          <a:cs typeface="Canva Sans"/>
                          <a:sym typeface="Canva Sans"/>
                        </a:rPr>
                        <a:t>Develop Code</a:t>
                      </a:r>
                    </a:p>
                    <a:p>
                      <a:pPr algn="l">
                        <a:lnSpc>
                          <a:spcPts val="2800"/>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2591757">
                <a:tc>
                  <a:txBody>
                    <a:bodyPr anchor="t" rtlCol="false"/>
                    <a:lstStyle/>
                    <a:p>
                      <a:pPr algn="l">
                        <a:lnSpc>
                          <a:spcPts val="3499"/>
                        </a:lnSpc>
                        <a:defRPr/>
                      </a:pPr>
                      <a:r>
                        <a:rPr lang="en-US" sz="2499">
                          <a:solidFill>
                            <a:srgbClr val="000000"/>
                          </a:solidFill>
                          <a:latin typeface="League Spartan"/>
                          <a:ea typeface="League Spartan"/>
                          <a:cs typeface="League Spartan"/>
                          <a:sym typeface="League Spartan"/>
                        </a:rPr>
                        <a:t>Tan Sheau Jun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Canva Sans Bold"/>
                          <a:ea typeface="Canva Sans Bold"/>
                          <a:cs typeface="Canva Sans Bold"/>
                          <a:sym typeface="Canva Sans Bold"/>
                        </a:rPr>
                        <a:t>Quality Assurance </a:t>
                      </a:r>
                      <a:endParaRPr lang="en-US" sz="1100"/>
                    </a:p>
                    <a:p>
                      <a:pPr algn="l" marL="431796" indent="-215898" lvl="1">
                        <a:lnSpc>
                          <a:spcPts val="2799"/>
                        </a:lnSpc>
                        <a:buFont typeface="Arial"/>
                        <a:buChar char="•"/>
                      </a:pPr>
                      <a:r>
                        <a:rPr lang="en-US" sz="1999">
                          <a:solidFill>
                            <a:srgbClr val="000000"/>
                          </a:solidFill>
                          <a:latin typeface="Canva Sans"/>
                          <a:ea typeface="Canva Sans"/>
                          <a:cs typeface="Canva Sans"/>
                          <a:sym typeface="Canva Sans"/>
                        </a:rPr>
                        <a:t>Documentation of problem statement and complete synopsis and objective</a:t>
                      </a:r>
                    </a:p>
                    <a:p>
                      <a:pPr algn="l" marL="431796" indent="-215898" lvl="1">
                        <a:lnSpc>
                          <a:spcPts val="2799"/>
                        </a:lnSpc>
                        <a:buFont typeface="Arial"/>
                        <a:buChar char="•"/>
                      </a:pPr>
                      <a:r>
                        <a:rPr lang="en-US" sz="1999">
                          <a:solidFill>
                            <a:srgbClr val="000000"/>
                          </a:solidFill>
                          <a:latin typeface="Canva Sans"/>
                          <a:ea typeface="Canva Sans"/>
                          <a:cs typeface="Canva Sans"/>
                          <a:sym typeface="Canva Sans"/>
                        </a:rPr>
                        <a:t>Complete and add description of the output for customers.</a:t>
                      </a:r>
                      <a:r>
                        <a:rPr lang="en-US" sz="1999">
                          <a:solidFill>
                            <a:srgbClr val="000000"/>
                          </a:solidFill>
                          <a:latin typeface="Canva Sans"/>
                          <a:ea typeface="Canva Sans"/>
                          <a:cs typeface="Canva Sans"/>
                          <a:sym typeface="Canva Sans"/>
                        </a:rPr>
                        <a:t> </a:t>
                      </a:r>
                    </a:p>
                    <a:p>
                      <a:pPr algn="l" marL="431796" indent="-215898" lvl="1">
                        <a:lnSpc>
                          <a:spcPts val="2799"/>
                        </a:lnSpc>
                        <a:buFont typeface="Arial"/>
                        <a:buChar char="•"/>
                      </a:pPr>
                      <a:r>
                        <a:rPr lang="en-US" sz="1999">
                          <a:solidFill>
                            <a:srgbClr val="000000"/>
                          </a:solidFill>
                          <a:latin typeface="Canva Sans"/>
                          <a:ea typeface="Canva Sans"/>
                          <a:cs typeface="Canva Sans"/>
                          <a:sym typeface="Canva Sans"/>
                        </a:rPr>
                        <a:t>Develop Code</a:t>
                      </a:r>
                    </a:p>
                    <a:p>
                      <a:pPr algn="l" marL="431796" indent="-215898" lvl="1">
                        <a:lnSpc>
                          <a:spcPts val="2799"/>
                        </a:lnSpc>
                        <a:buFont typeface="Arial"/>
                        <a:buChar char="•"/>
                      </a:pPr>
                      <a:r>
                        <a:rPr lang="en-US" sz="1999">
                          <a:solidFill>
                            <a:srgbClr val="000000"/>
                          </a:solidFill>
                          <a:latin typeface="Canva Sans"/>
                          <a:ea typeface="Canva Sans"/>
                          <a:cs typeface="Canva Sans"/>
                          <a:sym typeface="Canva Sans"/>
                        </a:rPr>
                        <a:t>Finalize all documentation </a:t>
                      </a:r>
                    </a:p>
                    <a:p>
                      <a:pPr algn="l">
                        <a:lnSpc>
                          <a:spcPts val="2799"/>
                        </a:lnSpc>
                      </a:pP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1028700" y="320519"/>
            <a:ext cx="16072888" cy="530052"/>
          </a:xfrm>
          <a:prstGeom prst="rect">
            <a:avLst/>
          </a:prstGeom>
        </p:spPr>
        <p:txBody>
          <a:bodyPr anchor="t" rtlCol="false" tIns="0" lIns="0" bIns="0" rIns="0">
            <a:spAutoFit/>
          </a:bodyPr>
          <a:lstStyle/>
          <a:p>
            <a:pPr algn="ctr">
              <a:lnSpc>
                <a:spcPts val="3993"/>
              </a:lnSpc>
            </a:pPr>
            <a:r>
              <a:rPr lang="en-US" sz="3993">
                <a:solidFill>
                  <a:srgbClr val="000000"/>
                </a:solidFill>
                <a:latin typeface="Hitchcut"/>
                <a:ea typeface="Hitchcut"/>
                <a:cs typeface="Hitchcut"/>
                <a:sym typeface="Hitchcut"/>
              </a:rPr>
              <a:t> MEMBER ROLES AND CONTRIBUTION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9E8"/>
        </a:solidFill>
      </p:bgPr>
    </p:bg>
    <p:spTree>
      <p:nvGrpSpPr>
        <p:cNvPr id="1" name=""/>
        <p:cNvGrpSpPr/>
        <p:nvPr/>
      </p:nvGrpSpPr>
      <p:grpSpPr>
        <a:xfrm>
          <a:off x="0" y="0"/>
          <a:ext cx="0" cy="0"/>
          <a:chOff x="0" y="0"/>
          <a:chExt cx="0" cy="0"/>
        </a:xfrm>
      </p:grpSpPr>
      <p:sp>
        <p:nvSpPr>
          <p:cNvPr name="Freeform 2" id="2"/>
          <p:cNvSpPr/>
          <p:nvPr/>
        </p:nvSpPr>
        <p:spPr>
          <a:xfrm flipH="false" flipV="false" rot="0">
            <a:off x="-551449" y="-2851231"/>
            <a:ext cx="19390899" cy="19390899"/>
          </a:xfrm>
          <a:custGeom>
            <a:avLst/>
            <a:gdLst/>
            <a:ahLst/>
            <a:cxnLst/>
            <a:rect r="r" b="b" t="t" l="l"/>
            <a:pathLst>
              <a:path h="19390899" w="19390899">
                <a:moveTo>
                  <a:pt x="0" y="0"/>
                </a:moveTo>
                <a:lnTo>
                  <a:pt x="19390898" y="0"/>
                </a:lnTo>
                <a:lnTo>
                  <a:pt x="19390898" y="19390899"/>
                </a:lnTo>
                <a:lnTo>
                  <a:pt x="0" y="19390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67379" y="2290118"/>
            <a:ext cx="17553243" cy="7396059"/>
            <a:chOff x="0" y="0"/>
            <a:chExt cx="2684957" cy="1131307"/>
          </a:xfrm>
        </p:grpSpPr>
        <p:sp>
          <p:nvSpPr>
            <p:cNvPr name="Freeform 4" id="4"/>
            <p:cNvSpPr/>
            <p:nvPr/>
          </p:nvSpPr>
          <p:spPr>
            <a:xfrm flipH="false" flipV="false" rot="0">
              <a:off x="0" y="0"/>
              <a:ext cx="2684957" cy="1131307"/>
            </a:xfrm>
            <a:custGeom>
              <a:avLst/>
              <a:gdLst/>
              <a:ahLst/>
              <a:cxnLst/>
              <a:rect r="r" b="b" t="t" l="l"/>
              <a:pathLst>
                <a:path h="1131307" w="2684957">
                  <a:moveTo>
                    <a:pt x="11908" y="0"/>
                  </a:moveTo>
                  <a:lnTo>
                    <a:pt x="2673049" y="0"/>
                  </a:lnTo>
                  <a:cubicBezTo>
                    <a:pt x="2679625" y="0"/>
                    <a:pt x="2684957" y="5332"/>
                    <a:pt x="2684957" y="11908"/>
                  </a:cubicBezTo>
                  <a:lnTo>
                    <a:pt x="2684957" y="1119398"/>
                  </a:lnTo>
                  <a:cubicBezTo>
                    <a:pt x="2684957" y="1125975"/>
                    <a:pt x="2679625" y="1131307"/>
                    <a:pt x="2673049" y="1131307"/>
                  </a:cubicBezTo>
                  <a:lnTo>
                    <a:pt x="11908" y="1131307"/>
                  </a:lnTo>
                  <a:cubicBezTo>
                    <a:pt x="5332" y="1131307"/>
                    <a:pt x="0" y="1125975"/>
                    <a:pt x="0" y="1119398"/>
                  </a:cubicBezTo>
                  <a:lnTo>
                    <a:pt x="0" y="11908"/>
                  </a:lnTo>
                  <a:cubicBezTo>
                    <a:pt x="0" y="5332"/>
                    <a:pt x="5332" y="0"/>
                    <a:pt x="11908" y="0"/>
                  </a:cubicBezTo>
                  <a:close/>
                </a:path>
              </a:pathLst>
            </a:custGeom>
            <a:solidFill>
              <a:srgbClr val="FFFFFF"/>
            </a:solidFill>
            <a:ln w="76200" cap="rnd">
              <a:solidFill>
                <a:srgbClr val="FCC751"/>
              </a:solidFill>
              <a:prstDash val="dash"/>
              <a:round/>
            </a:ln>
          </p:spPr>
        </p:sp>
        <p:sp>
          <p:nvSpPr>
            <p:cNvPr name="TextBox 5" id="5"/>
            <p:cNvSpPr txBox="true"/>
            <p:nvPr/>
          </p:nvSpPr>
          <p:spPr>
            <a:xfrm>
              <a:off x="0" y="38100"/>
              <a:ext cx="2684957" cy="1093207"/>
            </a:xfrm>
            <a:prstGeom prst="rect">
              <a:avLst/>
            </a:prstGeom>
          </p:spPr>
          <p:txBody>
            <a:bodyPr anchor="ctr" rtlCol="false" tIns="50800" lIns="50800" bIns="50800" rIns="50800"/>
            <a:lstStyle/>
            <a:p>
              <a:pPr algn="ctr">
                <a:lnSpc>
                  <a:spcPts val="2300"/>
                </a:lnSpc>
              </a:pPr>
            </a:p>
          </p:txBody>
        </p:sp>
      </p:grpSp>
      <p:grpSp>
        <p:nvGrpSpPr>
          <p:cNvPr name="Group 6" id="6"/>
          <p:cNvGrpSpPr/>
          <p:nvPr/>
        </p:nvGrpSpPr>
        <p:grpSpPr>
          <a:xfrm rot="0">
            <a:off x="-521352" y="9258300"/>
            <a:ext cx="20530423" cy="3086100"/>
            <a:chOff x="0" y="0"/>
            <a:chExt cx="5407190" cy="812800"/>
          </a:xfrm>
        </p:grpSpPr>
        <p:sp>
          <p:nvSpPr>
            <p:cNvPr name="Freeform 7" id="7"/>
            <p:cNvSpPr/>
            <p:nvPr/>
          </p:nvSpPr>
          <p:spPr>
            <a:xfrm flipH="false" flipV="false" rot="0">
              <a:off x="0" y="0"/>
              <a:ext cx="5407190" cy="812800"/>
            </a:xfrm>
            <a:custGeom>
              <a:avLst/>
              <a:gdLst/>
              <a:ahLst/>
              <a:cxnLst/>
              <a:rect r="r" b="b" t="t" l="l"/>
              <a:pathLst>
                <a:path h="812800" w="5407190">
                  <a:moveTo>
                    <a:pt x="0" y="0"/>
                  </a:moveTo>
                  <a:lnTo>
                    <a:pt x="5407190" y="0"/>
                  </a:lnTo>
                  <a:lnTo>
                    <a:pt x="5407190" y="812800"/>
                  </a:lnTo>
                  <a:lnTo>
                    <a:pt x="0" y="812800"/>
                  </a:lnTo>
                  <a:close/>
                </a:path>
              </a:pathLst>
            </a:custGeom>
            <a:solidFill>
              <a:srgbClr val="0BA595"/>
            </a:solidFill>
          </p:spPr>
        </p:sp>
        <p:sp>
          <p:nvSpPr>
            <p:cNvPr name="TextBox 8" id="8"/>
            <p:cNvSpPr txBox="true"/>
            <p:nvPr/>
          </p:nvSpPr>
          <p:spPr>
            <a:xfrm>
              <a:off x="0" y="38100"/>
              <a:ext cx="5407190" cy="774700"/>
            </a:xfrm>
            <a:prstGeom prst="rect">
              <a:avLst/>
            </a:prstGeom>
          </p:spPr>
          <p:txBody>
            <a:bodyPr anchor="ctr" rtlCol="false" tIns="50800" lIns="50800" bIns="50800" rIns="50800"/>
            <a:lstStyle/>
            <a:p>
              <a:pPr algn="ctr">
                <a:lnSpc>
                  <a:spcPts val="2300"/>
                </a:lnSpc>
              </a:pPr>
            </a:p>
          </p:txBody>
        </p:sp>
      </p:grpSp>
      <p:sp>
        <p:nvSpPr>
          <p:cNvPr name="AutoShape 9" id="9"/>
          <p:cNvSpPr/>
          <p:nvPr/>
        </p:nvSpPr>
        <p:spPr>
          <a:xfrm flipV="true">
            <a:off x="4729372" y="2476062"/>
            <a:ext cx="0" cy="6182923"/>
          </a:xfrm>
          <a:prstGeom prst="line">
            <a:avLst/>
          </a:prstGeom>
          <a:ln cap="flat" w="76200">
            <a:solidFill>
              <a:srgbClr val="FEC741"/>
            </a:solidFill>
            <a:prstDash val="sysDash"/>
            <a:headEnd type="none" len="sm" w="sm"/>
            <a:tailEnd type="none" len="sm" w="sm"/>
          </a:ln>
        </p:spPr>
      </p:sp>
      <p:sp>
        <p:nvSpPr>
          <p:cNvPr name="AutoShape 10" id="10"/>
          <p:cNvSpPr/>
          <p:nvPr/>
        </p:nvSpPr>
        <p:spPr>
          <a:xfrm flipV="true">
            <a:off x="9078614" y="2290118"/>
            <a:ext cx="65386" cy="6355351"/>
          </a:xfrm>
          <a:prstGeom prst="line">
            <a:avLst/>
          </a:prstGeom>
          <a:ln cap="flat" w="76200">
            <a:solidFill>
              <a:srgbClr val="FEC741"/>
            </a:solidFill>
            <a:prstDash val="sysDash"/>
            <a:headEnd type="none" len="sm" w="sm"/>
            <a:tailEnd type="none" len="sm" w="sm"/>
          </a:ln>
        </p:spPr>
      </p:sp>
      <p:sp>
        <p:nvSpPr>
          <p:cNvPr name="Freeform 11" id="11"/>
          <p:cNvSpPr/>
          <p:nvPr/>
        </p:nvSpPr>
        <p:spPr>
          <a:xfrm flipH="false" flipV="false" rot="0">
            <a:off x="1521692" y="723292"/>
            <a:ext cx="1398951" cy="1398951"/>
          </a:xfrm>
          <a:custGeom>
            <a:avLst/>
            <a:gdLst/>
            <a:ahLst/>
            <a:cxnLst/>
            <a:rect r="r" b="b" t="t" l="l"/>
            <a:pathLst>
              <a:path h="1398951" w="1398951">
                <a:moveTo>
                  <a:pt x="0" y="0"/>
                </a:moveTo>
                <a:lnTo>
                  <a:pt x="1398951" y="0"/>
                </a:lnTo>
                <a:lnTo>
                  <a:pt x="1398951" y="1398951"/>
                </a:lnTo>
                <a:lnTo>
                  <a:pt x="0" y="13989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5961770" y="1204483"/>
            <a:ext cx="1297530" cy="1271580"/>
          </a:xfrm>
          <a:custGeom>
            <a:avLst/>
            <a:gdLst/>
            <a:ahLst/>
            <a:cxnLst/>
            <a:rect r="r" b="b" t="t" l="l"/>
            <a:pathLst>
              <a:path h="1271580" w="1297530">
                <a:moveTo>
                  <a:pt x="0" y="0"/>
                </a:moveTo>
                <a:lnTo>
                  <a:pt x="1297530" y="0"/>
                </a:lnTo>
                <a:lnTo>
                  <a:pt x="1297530" y="1271579"/>
                </a:lnTo>
                <a:lnTo>
                  <a:pt x="0" y="12715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6321303" y="-118507"/>
            <a:ext cx="2518147" cy="2142714"/>
          </a:xfrm>
          <a:custGeom>
            <a:avLst/>
            <a:gdLst/>
            <a:ahLst/>
            <a:cxnLst/>
            <a:rect r="r" b="b" t="t" l="l"/>
            <a:pathLst>
              <a:path h="2142714" w="2518147">
                <a:moveTo>
                  <a:pt x="0" y="0"/>
                </a:moveTo>
                <a:lnTo>
                  <a:pt x="2518146" y="0"/>
                </a:lnTo>
                <a:lnTo>
                  <a:pt x="2518146" y="2142713"/>
                </a:lnTo>
                <a:lnTo>
                  <a:pt x="0" y="21427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824764" y="8374528"/>
            <a:ext cx="2086464" cy="2059909"/>
          </a:xfrm>
          <a:custGeom>
            <a:avLst/>
            <a:gdLst/>
            <a:ahLst/>
            <a:cxnLst/>
            <a:rect r="r" b="b" t="t" l="l"/>
            <a:pathLst>
              <a:path h="2059909" w="2086464">
                <a:moveTo>
                  <a:pt x="0" y="0"/>
                </a:moveTo>
                <a:lnTo>
                  <a:pt x="2086464" y="0"/>
                </a:lnTo>
                <a:lnTo>
                  <a:pt x="2086464" y="2059909"/>
                </a:lnTo>
                <a:lnTo>
                  <a:pt x="0" y="205990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4433849">
            <a:off x="373513" y="-402672"/>
            <a:ext cx="835261" cy="2251928"/>
          </a:xfrm>
          <a:custGeom>
            <a:avLst/>
            <a:gdLst/>
            <a:ahLst/>
            <a:cxnLst/>
            <a:rect r="r" b="b" t="t" l="l"/>
            <a:pathLst>
              <a:path h="2251928" w="835261">
                <a:moveTo>
                  <a:pt x="0" y="0"/>
                </a:moveTo>
                <a:lnTo>
                  <a:pt x="835260" y="0"/>
                </a:lnTo>
                <a:lnTo>
                  <a:pt x="835260" y="2251928"/>
                </a:lnTo>
                <a:lnTo>
                  <a:pt x="0" y="225192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17238599" y="9091526"/>
            <a:ext cx="3201701" cy="2148051"/>
          </a:xfrm>
          <a:custGeom>
            <a:avLst/>
            <a:gdLst/>
            <a:ahLst/>
            <a:cxnLst/>
            <a:rect r="r" b="b" t="t" l="l"/>
            <a:pathLst>
              <a:path h="2148051" w="3201701">
                <a:moveTo>
                  <a:pt x="0" y="0"/>
                </a:moveTo>
                <a:lnTo>
                  <a:pt x="3201701" y="0"/>
                </a:lnTo>
                <a:lnTo>
                  <a:pt x="3201701" y="2148050"/>
                </a:lnTo>
                <a:lnTo>
                  <a:pt x="0" y="214805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6304432">
            <a:off x="1851687" y="-1005756"/>
            <a:ext cx="2137913" cy="1962992"/>
          </a:xfrm>
          <a:custGeom>
            <a:avLst/>
            <a:gdLst/>
            <a:ahLst/>
            <a:cxnLst/>
            <a:rect r="r" b="b" t="t" l="l"/>
            <a:pathLst>
              <a:path h="1962992" w="2137913">
                <a:moveTo>
                  <a:pt x="0" y="0"/>
                </a:moveTo>
                <a:lnTo>
                  <a:pt x="2137912" y="0"/>
                </a:lnTo>
                <a:lnTo>
                  <a:pt x="2137912" y="1962992"/>
                </a:lnTo>
                <a:lnTo>
                  <a:pt x="0" y="196299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8" id="18"/>
          <p:cNvSpPr txBox="true"/>
          <p:nvPr/>
        </p:nvSpPr>
        <p:spPr>
          <a:xfrm rot="0">
            <a:off x="3353991" y="452643"/>
            <a:ext cx="12779737" cy="751840"/>
          </a:xfrm>
          <a:prstGeom prst="rect">
            <a:avLst/>
          </a:prstGeom>
        </p:spPr>
        <p:txBody>
          <a:bodyPr anchor="t" rtlCol="false" tIns="0" lIns="0" bIns="0" rIns="0">
            <a:spAutoFit/>
          </a:bodyPr>
          <a:lstStyle/>
          <a:p>
            <a:pPr algn="ctr">
              <a:lnSpc>
                <a:spcPts val="5600"/>
              </a:lnSpc>
            </a:pPr>
            <a:r>
              <a:rPr lang="en-US" sz="5600">
                <a:solidFill>
                  <a:srgbClr val="000000"/>
                </a:solidFill>
                <a:latin typeface="Hitchcut"/>
                <a:ea typeface="Hitchcut"/>
                <a:cs typeface="Hitchcut"/>
                <a:sym typeface="Hitchcut"/>
              </a:rPr>
              <a:t>UNDERSTANDING OF PROJECT</a:t>
            </a:r>
          </a:p>
        </p:txBody>
      </p:sp>
      <p:sp>
        <p:nvSpPr>
          <p:cNvPr name="TextBox 19" id="19"/>
          <p:cNvSpPr txBox="true"/>
          <p:nvPr/>
        </p:nvSpPr>
        <p:spPr>
          <a:xfrm rot="0">
            <a:off x="791143" y="2533212"/>
            <a:ext cx="2959432" cy="390525"/>
          </a:xfrm>
          <a:prstGeom prst="rect">
            <a:avLst/>
          </a:prstGeom>
        </p:spPr>
        <p:txBody>
          <a:bodyPr anchor="t" rtlCol="false" tIns="0" lIns="0" bIns="0" rIns="0">
            <a:spAutoFit/>
          </a:bodyPr>
          <a:lstStyle/>
          <a:p>
            <a:pPr algn="ctr">
              <a:lnSpc>
                <a:spcPts val="2999"/>
              </a:lnSpc>
            </a:pPr>
            <a:r>
              <a:rPr lang="en-US" sz="2999">
                <a:solidFill>
                  <a:srgbClr val="000000"/>
                </a:solidFill>
                <a:latin typeface="Hitchcut"/>
                <a:ea typeface="Hitchcut"/>
                <a:cs typeface="Hitchcut"/>
                <a:sym typeface="Hitchcut"/>
              </a:rPr>
              <a:t>1</a:t>
            </a:r>
          </a:p>
        </p:txBody>
      </p:sp>
      <p:sp>
        <p:nvSpPr>
          <p:cNvPr name="TextBox 20" id="20"/>
          <p:cNvSpPr txBox="true"/>
          <p:nvPr/>
        </p:nvSpPr>
        <p:spPr>
          <a:xfrm rot="0">
            <a:off x="5473469" y="2533212"/>
            <a:ext cx="2545868" cy="390525"/>
          </a:xfrm>
          <a:prstGeom prst="rect">
            <a:avLst/>
          </a:prstGeom>
        </p:spPr>
        <p:txBody>
          <a:bodyPr anchor="t" rtlCol="false" tIns="0" lIns="0" bIns="0" rIns="0">
            <a:spAutoFit/>
          </a:bodyPr>
          <a:lstStyle/>
          <a:p>
            <a:pPr algn="ctr">
              <a:lnSpc>
                <a:spcPts val="2999"/>
              </a:lnSpc>
            </a:pPr>
            <a:r>
              <a:rPr lang="en-US" sz="2999">
                <a:solidFill>
                  <a:srgbClr val="000000"/>
                </a:solidFill>
                <a:latin typeface="Hitchcut"/>
                <a:ea typeface="Hitchcut"/>
                <a:cs typeface="Hitchcut"/>
                <a:sym typeface="Hitchcut"/>
              </a:rPr>
              <a:t>2</a:t>
            </a:r>
          </a:p>
        </p:txBody>
      </p:sp>
      <p:sp>
        <p:nvSpPr>
          <p:cNvPr name="TextBox 21" id="21"/>
          <p:cNvSpPr txBox="true"/>
          <p:nvPr/>
        </p:nvSpPr>
        <p:spPr>
          <a:xfrm rot="0">
            <a:off x="9868165" y="2533212"/>
            <a:ext cx="2545868" cy="390525"/>
          </a:xfrm>
          <a:prstGeom prst="rect">
            <a:avLst/>
          </a:prstGeom>
        </p:spPr>
        <p:txBody>
          <a:bodyPr anchor="t" rtlCol="false" tIns="0" lIns="0" bIns="0" rIns="0">
            <a:spAutoFit/>
          </a:bodyPr>
          <a:lstStyle/>
          <a:p>
            <a:pPr algn="ctr">
              <a:lnSpc>
                <a:spcPts val="2999"/>
              </a:lnSpc>
            </a:pPr>
            <a:r>
              <a:rPr lang="en-US" sz="2999">
                <a:solidFill>
                  <a:srgbClr val="000000"/>
                </a:solidFill>
                <a:latin typeface="Hitchcut"/>
                <a:ea typeface="Hitchcut"/>
                <a:cs typeface="Hitchcut"/>
                <a:sym typeface="Hitchcut"/>
              </a:rPr>
              <a:t>3</a:t>
            </a:r>
          </a:p>
        </p:txBody>
      </p:sp>
      <p:sp>
        <p:nvSpPr>
          <p:cNvPr name="AutoShape 22" id="22"/>
          <p:cNvSpPr/>
          <p:nvPr/>
        </p:nvSpPr>
        <p:spPr>
          <a:xfrm flipH="true" flipV="true">
            <a:off x="13431539" y="2476062"/>
            <a:ext cx="0" cy="6169406"/>
          </a:xfrm>
          <a:prstGeom prst="line">
            <a:avLst/>
          </a:prstGeom>
          <a:ln cap="flat" w="76200">
            <a:solidFill>
              <a:srgbClr val="FEC741"/>
            </a:solidFill>
            <a:prstDash val="sysDash"/>
            <a:headEnd type="none" len="sm" w="sm"/>
            <a:tailEnd type="none" len="sm" w="sm"/>
          </a:ln>
        </p:spPr>
      </p:sp>
      <p:sp>
        <p:nvSpPr>
          <p:cNvPr name="TextBox 23" id="23"/>
          <p:cNvSpPr txBox="true"/>
          <p:nvPr/>
        </p:nvSpPr>
        <p:spPr>
          <a:xfrm rot="0">
            <a:off x="14064667" y="2467085"/>
            <a:ext cx="2545868" cy="390525"/>
          </a:xfrm>
          <a:prstGeom prst="rect">
            <a:avLst/>
          </a:prstGeom>
        </p:spPr>
        <p:txBody>
          <a:bodyPr anchor="t" rtlCol="false" tIns="0" lIns="0" bIns="0" rIns="0">
            <a:spAutoFit/>
          </a:bodyPr>
          <a:lstStyle/>
          <a:p>
            <a:pPr algn="ctr">
              <a:lnSpc>
                <a:spcPts val="2999"/>
              </a:lnSpc>
            </a:pPr>
            <a:r>
              <a:rPr lang="en-US" sz="2999">
                <a:solidFill>
                  <a:srgbClr val="000000"/>
                </a:solidFill>
                <a:latin typeface="Hitchcut"/>
                <a:ea typeface="Hitchcut"/>
                <a:cs typeface="Hitchcut"/>
                <a:sym typeface="Hitchcut"/>
              </a:rPr>
              <a:t>4</a:t>
            </a:r>
          </a:p>
        </p:txBody>
      </p:sp>
      <p:sp>
        <p:nvSpPr>
          <p:cNvPr name="TextBox 24" id="24"/>
          <p:cNvSpPr txBox="true"/>
          <p:nvPr/>
        </p:nvSpPr>
        <p:spPr>
          <a:xfrm rot="0">
            <a:off x="9362445" y="3186373"/>
            <a:ext cx="3869069" cy="5459095"/>
          </a:xfrm>
          <a:prstGeom prst="rect">
            <a:avLst/>
          </a:prstGeom>
        </p:spPr>
        <p:txBody>
          <a:bodyPr anchor="t" rtlCol="false" tIns="0" lIns="0" bIns="0" rIns="0">
            <a:spAutoFit/>
          </a:bodyPr>
          <a:lstStyle/>
          <a:p>
            <a:pPr algn="l">
              <a:lnSpc>
                <a:spcPts val="2300"/>
              </a:lnSpc>
            </a:pPr>
            <a:r>
              <a:rPr lang="en-US" sz="2300">
                <a:solidFill>
                  <a:srgbClr val="000000"/>
                </a:solidFill>
                <a:latin typeface="Sniglet"/>
                <a:ea typeface="Sniglet"/>
                <a:cs typeface="Sniglet"/>
                <a:sym typeface="Sniglet"/>
              </a:rPr>
              <a:t>During the process of completing this project, I learned:</a:t>
            </a:r>
          </a:p>
          <a:p>
            <a:pPr algn="l">
              <a:lnSpc>
                <a:spcPts val="2300"/>
              </a:lnSpc>
            </a:pPr>
          </a:p>
          <a:p>
            <a:pPr algn="l" marL="496572" indent="-248286" lvl="1">
              <a:lnSpc>
                <a:spcPts val="2300"/>
              </a:lnSpc>
              <a:buFont typeface="Arial"/>
              <a:buChar char="•"/>
            </a:pPr>
            <a:r>
              <a:rPr lang="en-US" sz="2300">
                <a:solidFill>
                  <a:srgbClr val="000000"/>
                </a:solidFill>
                <a:latin typeface="Sniglet"/>
                <a:ea typeface="Sniglet"/>
                <a:cs typeface="Sniglet"/>
                <a:sym typeface="Sniglet"/>
              </a:rPr>
              <a:t>To implement a queue data structure in real-life scenarios such as a homestay booking system </a:t>
            </a:r>
          </a:p>
          <a:p>
            <a:pPr algn="l">
              <a:lnSpc>
                <a:spcPts val="2300"/>
              </a:lnSpc>
            </a:pPr>
          </a:p>
          <a:p>
            <a:pPr algn="l" marL="496572" indent="-248286" lvl="1">
              <a:lnSpc>
                <a:spcPts val="2300"/>
              </a:lnSpc>
              <a:buFont typeface="Arial"/>
              <a:buChar char="•"/>
            </a:pPr>
            <a:r>
              <a:rPr lang="en-US" sz="2300">
                <a:solidFill>
                  <a:srgbClr val="000000"/>
                </a:solidFill>
                <a:latin typeface="Sniglet"/>
                <a:ea typeface="Sniglet"/>
                <a:cs typeface="Sniglet"/>
                <a:sym typeface="Sniglet"/>
              </a:rPr>
              <a:t>To analyze the system requirements and develop a UseCase and class diagram for our system</a:t>
            </a:r>
          </a:p>
          <a:p>
            <a:pPr algn="l">
              <a:lnSpc>
                <a:spcPts val="2300"/>
              </a:lnSpc>
            </a:pPr>
          </a:p>
          <a:p>
            <a:pPr algn="l" marL="496572" indent="-248286" lvl="1">
              <a:lnSpc>
                <a:spcPts val="2300"/>
              </a:lnSpc>
              <a:buFont typeface="Arial"/>
              <a:buChar char="•"/>
            </a:pPr>
            <a:r>
              <a:rPr lang="en-US" sz="2300">
                <a:solidFill>
                  <a:srgbClr val="000000"/>
                </a:solidFill>
                <a:latin typeface="Sniglet"/>
                <a:ea typeface="Sniglet"/>
                <a:cs typeface="Sniglet"/>
                <a:sym typeface="Sniglet"/>
              </a:rPr>
              <a:t>The importance of cooperating with my team members </a:t>
            </a:r>
          </a:p>
        </p:txBody>
      </p:sp>
      <p:sp>
        <p:nvSpPr>
          <p:cNvPr name="TextBox 25" id="25"/>
          <p:cNvSpPr txBox="true"/>
          <p:nvPr/>
        </p:nvSpPr>
        <p:spPr>
          <a:xfrm rot="0">
            <a:off x="641228" y="3090008"/>
            <a:ext cx="3869069" cy="6030595"/>
          </a:xfrm>
          <a:prstGeom prst="rect">
            <a:avLst/>
          </a:prstGeom>
        </p:spPr>
        <p:txBody>
          <a:bodyPr anchor="t" rtlCol="false" tIns="0" lIns="0" bIns="0" rIns="0">
            <a:spAutoFit/>
          </a:bodyPr>
          <a:lstStyle/>
          <a:p>
            <a:pPr algn="l">
              <a:lnSpc>
                <a:spcPts val="2300"/>
              </a:lnSpc>
            </a:pPr>
            <a:r>
              <a:rPr lang="en-US" sz="2300">
                <a:solidFill>
                  <a:srgbClr val="000000"/>
                </a:solidFill>
                <a:latin typeface="Sniglet"/>
                <a:ea typeface="Sniglet"/>
                <a:cs typeface="Sniglet"/>
                <a:sym typeface="Sniglet"/>
              </a:rPr>
              <a:t>During the process of completing this project, I learned:</a:t>
            </a:r>
          </a:p>
          <a:p>
            <a:pPr algn="l">
              <a:lnSpc>
                <a:spcPts val="2300"/>
              </a:lnSpc>
            </a:pPr>
          </a:p>
          <a:p>
            <a:pPr algn="l" marL="496572" indent="-248286" lvl="1">
              <a:lnSpc>
                <a:spcPts val="2300"/>
              </a:lnSpc>
              <a:buFont typeface="Arial"/>
              <a:buChar char="•"/>
            </a:pPr>
            <a:r>
              <a:rPr lang="en-US" sz="2300">
                <a:solidFill>
                  <a:srgbClr val="000000"/>
                </a:solidFill>
                <a:latin typeface="Sniglet"/>
                <a:ea typeface="Sniglet"/>
                <a:cs typeface="Sniglet"/>
                <a:sym typeface="Sniglet"/>
              </a:rPr>
              <a:t>How to apply the FIFO principle to create bookings, cancel bookings, and handle room availability</a:t>
            </a:r>
          </a:p>
          <a:p>
            <a:pPr algn="l">
              <a:lnSpc>
                <a:spcPts val="2300"/>
              </a:lnSpc>
            </a:pPr>
          </a:p>
          <a:p>
            <a:pPr algn="l" marL="496572" indent="-248286" lvl="1">
              <a:lnSpc>
                <a:spcPts val="2300"/>
              </a:lnSpc>
              <a:buFont typeface="Arial"/>
              <a:buChar char="•"/>
            </a:pPr>
            <a:r>
              <a:rPr lang="en-US" sz="2300">
                <a:solidFill>
                  <a:srgbClr val="000000"/>
                </a:solidFill>
                <a:latin typeface="Sniglet"/>
                <a:ea typeface="Sniglet"/>
                <a:cs typeface="Sniglet"/>
                <a:sym typeface="Sniglet"/>
              </a:rPr>
              <a:t>The importance of team roles and responsibilities by assigning specific roles to each member which helped in managing tasks efficiently</a:t>
            </a:r>
          </a:p>
          <a:p>
            <a:pPr algn="l">
              <a:lnSpc>
                <a:spcPts val="2300"/>
              </a:lnSpc>
            </a:pPr>
          </a:p>
          <a:p>
            <a:pPr algn="l" marL="496572" indent="-248286" lvl="1">
              <a:lnSpc>
                <a:spcPts val="2300"/>
              </a:lnSpc>
              <a:buFont typeface="Arial"/>
              <a:buChar char="•"/>
            </a:pPr>
            <a:r>
              <a:rPr lang="en-US" sz="2300">
                <a:solidFill>
                  <a:srgbClr val="000000"/>
                </a:solidFill>
                <a:latin typeface="Sniglet"/>
                <a:ea typeface="Sniglet"/>
                <a:cs typeface="Sniglet"/>
                <a:sym typeface="Sniglet"/>
              </a:rPr>
              <a:t>Communication and collaboration in streamlining the development process</a:t>
            </a:r>
          </a:p>
        </p:txBody>
      </p:sp>
      <p:sp>
        <p:nvSpPr>
          <p:cNvPr name="TextBox 26" id="26"/>
          <p:cNvSpPr txBox="true"/>
          <p:nvPr/>
        </p:nvSpPr>
        <p:spPr>
          <a:xfrm rot="0">
            <a:off x="4948447" y="3060931"/>
            <a:ext cx="3869069" cy="6602095"/>
          </a:xfrm>
          <a:prstGeom prst="rect">
            <a:avLst/>
          </a:prstGeom>
        </p:spPr>
        <p:txBody>
          <a:bodyPr anchor="t" rtlCol="false" tIns="0" lIns="0" bIns="0" rIns="0">
            <a:spAutoFit/>
          </a:bodyPr>
          <a:lstStyle/>
          <a:p>
            <a:pPr algn="l">
              <a:lnSpc>
                <a:spcPts val="2300"/>
              </a:lnSpc>
            </a:pPr>
            <a:r>
              <a:rPr lang="en-US" sz="2300">
                <a:solidFill>
                  <a:srgbClr val="000000"/>
                </a:solidFill>
                <a:latin typeface="Sniglet"/>
                <a:ea typeface="Sniglet"/>
                <a:cs typeface="Sniglet"/>
                <a:sym typeface="Sniglet"/>
              </a:rPr>
              <a:t>During the process of completing this project, I learned:</a:t>
            </a:r>
          </a:p>
          <a:p>
            <a:pPr algn="l">
              <a:lnSpc>
                <a:spcPts val="2300"/>
              </a:lnSpc>
            </a:pPr>
          </a:p>
          <a:p>
            <a:pPr algn="l" marL="496572" indent="-248286" lvl="1">
              <a:lnSpc>
                <a:spcPts val="2300"/>
              </a:lnSpc>
              <a:buFont typeface="Arial"/>
              <a:buChar char="•"/>
            </a:pPr>
            <a:r>
              <a:rPr lang="en-US" sz="2300">
                <a:solidFill>
                  <a:srgbClr val="000000"/>
                </a:solidFill>
                <a:latin typeface="Sniglet"/>
                <a:ea typeface="Sniglet"/>
                <a:cs typeface="Sniglet"/>
                <a:sym typeface="Sniglet"/>
              </a:rPr>
              <a:t>How to use queue concept (FIFO) to manage bookings fairly, prevent overbooking, and streamline the process for customers. Later requests for the same date are processed only after previous customer checking out</a:t>
            </a:r>
          </a:p>
          <a:p>
            <a:pPr algn="l">
              <a:lnSpc>
                <a:spcPts val="2300"/>
              </a:lnSpc>
            </a:pPr>
          </a:p>
          <a:p>
            <a:pPr algn="l" marL="496572" indent="-248286" lvl="1">
              <a:lnSpc>
                <a:spcPts val="2300"/>
              </a:lnSpc>
              <a:buFont typeface="Arial"/>
              <a:buChar char="•"/>
            </a:pPr>
            <a:r>
              <a:rPr lang="en-US" sz="2300">
                <a:solidFill>
                  <a:srgbClr val="000000"/>
                </a:solidFill>
                <a:latin typeface="Sniglet"/>
                <a:ea typeface="Sniglet"/>
                <a:cs typeface="Sniglet"/>
                <a:sym typeface="Sniglet"/>
              </a:rPr>
              <a:t>The i</a:t>
            </a:r>
            <a:r>
              <a:rPr lang="en-US" sz="2300">
                <a:solidFill>
                  <a:srgbClr val="000000"/>
                </a:solidFill>
                <a:latin typeface="Sniglet"/>
                <a:ea typeface="Sniglet"/>
                <a:cs typeface="Sniglet"/>
                <a:sym typeface="Sniglet"/>
              </a:rPr>
              <a:t>mportance of  communication in designing a system  to solves the problems effectively.</a:t>
            </a:r>
          </a:p>
          <a:p>
            <a:pPr algn="l">
              <a:lnSpc>
                <a:spcPts val="2300"/>
              </a:lnSpc>
            </a:pPr>
          </a:p>
          <a:p>
            <a:pPr algn="l">
              <a:lnSpc>
                <a:spcPts val="2300"/>
              </a:lnSpc>
            </a:pPr>
          </a:p>
          <a:p>
            <a:pPr algn="l">
              <a:lnSpc>
                <a:spcPts val="2300"/>
              </a:lnSpc>
            </a:pPr>
          </a:p>
        </p:txBody>
      </p:sp>
      <p:sp>
        <p:nvSpPr>
          <p:cNvPr name="TextBox 27" id="27"/>
          <p:cNvSpPr txBox="true"/>
          <p:nvPr/>
        </p:nvSpPr>
        <p:spPr>
          <a:xfrm rot="0">
            <a:off x="13631564" y="3060931"/>
            <a:ext cx="4071653" cy="6030595"/>
          </a:xfrm>
          <a:prstGeom prst="rect">
            <a:avLst/>
          </a:prstGeom>
        </p:spPr>
        <p:txBody>
          <a:bodyPr anchor="t" rtlCol="false" tIns="0" lIns="0" bIns="0" rIns="0">
            <a:spAutoFit/>
          </a:bodyPr>
          <a:lstStyle/>
          <a:p>
            <a:pPr algn="l">
              <a:lnSpc>
                <a:spcPts val="2300"/>
              </a:lnSpc>
            </a:pPr>
            <a:r>
              <a:rPr lang="en-US" sz="2300">
                <a:solidFill>
                  <a:srgbClr val="000000"/>
                </a:solidFill>
                <a:latin typeface="Sniglet"/>
                <a:ea typeface="Sniglet"/>
                <a:cs typeface="Sniglet"/>
                <a:sym typeface="Sniglet"/>
              </a:rPr>
              <a:t>During the process of completing this project, I learned:</a:t>
            </a:r>
          </a:p>
          <a:p>
            <a:pPr algn="l">
              <a:lnSpc>
                <a:spcPts val="2300"/>
              </a:lnSpc>
            </a:pPr>
          </a:p>
          <a:p>
            <a:pPr algn="l" marL="496572" indent="-248286" lvl="1">
              <a:lnSpc>
                <a:spcPts val="2300"/>
              </a:lnSpc>
              <a:buFont typeface="Arial"/>
              <a:buChar char="•"/>
            </a:pPr>
            <a:r>
              <a:rPr lang="en-US" sz="2300">
                <a:solidFill>
                  <a:srgbClr val="000000"/>
                </a:solidFill>
                <a:latin typeface="Sniglet"/>
                <a:ea typeface="Sniglet"/>
                <a:cs typeface="Sniglet"/>
                <a:sym typeface="Sniglet"/>
              </a:rPr>
              <a:t>How to implement a queue using arrays, including operations like enqueue (adding to the queue), dequeue (removing from the queue), and peek (viewing the front element).</a:t>
            </a:r>
          </a:p>
          <a:p>
            <a:pPr algn="l">
              <a:lnSpc>
                <a:spcPts val="2300"/>
              </a:lnSpc>
            </a:pPr>
          </a:p>
          <a:p>
            <a:pPr algn="l" marL="496572" indent="-248286" lvl="1">
              <a:lnSpc>
                <a:spcPts val="2300"/>
              </a:lnSpc>
              <a:buFont typeface="Arial"/>
              <a:buChar char="•"/>
            </a:pPr>
            <a:r>
              <a:rPr lang="en-US" sz="2300">
                <a:solidFill>
                  <a:srgbClr val="000000"/>
                </a:solidFill>
                <a:latin typeface="Sniglet"/>
                <a:ea typeface="Sniglet"/>
                <a:cs typeface="Sniglet"/>
                <a:sym typeface="Sniglet"/>
              </a:rPr>
              <a:t>Utilized a queue to maintain a booking system in FIFO (First In, First Out) order</a:t>
            </a:r>
          </a:p>
          <a:p>
            <a:pPr algn="l">
              <a:lnSpc>
                <a:spcPts val="2300"/>
              </a:lnSpc>
            </a:pPr>
          </a:p>
          <a:p>
            <a:pPr algn="l" marL="496572" indent="-248286" lvl="1">
              <a:lnSpc>
                <a:spcPts val="2300"/>
              </a:lnSpc>
              <a:buFont typeface="Arial"/>
              <a:buChar char="•"/>
            </a:pPr>
            <a:r>
              <a:rPr lang="en-US" sz="2300">
                <a:solidFill>
                  <a:srgbClr val="000000"/>
                </a:solidFill>
                <a:latin typeface="Sniglet"/>
                <a:ea typeface="Sniglet"/>
                <a:cs typeface="Sniglet"/>
                <a:sym typeface="Sniglet"/>
              </a:rPr>
              <a:t>Cooperation  and communication between team members is vital in order to complete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DAGbqyKAdmM</dc:identifier>
  <dcterms:modified xsi:type="dcterms:W3CDTF">2011-08-01T06:04:30Z</dcterms:modified>
  <cp:revision>1</cp:revision>
  <dc:title>4.2.1.1 Network Distribution Diagram</dc:title>
</cp:coreProperties>
</file>
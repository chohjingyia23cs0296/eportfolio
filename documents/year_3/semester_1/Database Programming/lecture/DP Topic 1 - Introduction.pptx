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315" r:id="rId2"/>
    <p:sldId id="316" r:id="rId3"/>
    <p:sldId id="317" r:id="rId4"/>
    <p:sldId id="296" r:id="rId5"/>
    <p:sldId id="259" r:id="rId6"/>
    <p:sldId id="260" r:id="rId7"/>
    <p:sldId id="318" r:id="rId8"/>
    <p:sldId id="261" r:id="rId9"/>
    <p:sldId id="262" r:id="rId10"/>
    <p:sldId id="319" r:id="rId11"/>
    <p:sldId id="263" r:id="rId12"/>
    <p:sldId id="320" r:id="rId13"/>
    <p:sldId id="321" r:id="rId14"/>
    <p:sldId id="268" r:id="rId15"/>
    <p:sldId id="271" r:id="rId16"/>
    <p:sldId id="275" r:id="rId17"/>
    <p:sldId id="266" r:id="rId18"/>
    <p:sldId id="267" r:id="rId19"/>
    <p:sldId id="323" r:id="rId20"/>
    <p:sldId id="298" r:id="rId21"/>
    <p:sldId id="299" r:id="rId22"/>
    <p:sldId id="300" r:id="rId23"/>
    <p:sldId id="301" r:id="rId24"/>
    <p:sldId id="302" r:id="rId25"/>
    <p:sldId id="290" r:id="rId26"/>
    <p:sldId id="281" r:id="rId27"/>
    <p:sldId id="282" r:id="rId28"/>
    <p:sldId id="293" r:id="rId29"/>
    <p:sldId id="313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0" roundtripDataSignature="AMtx7mhEVrst4BOKj/vpGjIRIw10KX65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3CCBDD-E0BC-4259-A1C9-309ED4B31BAB}">
  <a:tblStyle styleId="{533CCBDD-E0BC-4259-A1C9-309ED4B31BA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570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50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C27356-B77E-B3EA-4564-32D8B50BB0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E2844C-24EE-E83F-D054-B6F2808426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CEA71-2553-45C1-9F9C-4DD7B686CF17}" type="datetimeFigureOut">
              <a:rPr lang="en-GB" smtClean="0"/>
              <a:t>04/10/2025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831AA-27A6-26B4-65E2-78CDB9500D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123EE7-132D-4103-82C7-18BB075F8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08974-8880-4108-9A0C-1414533471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99011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tiff"/><Relationship Id="rId5" Type="http://schemas.openxmlformats.org/officeDocument/2006/relationships/image" Target="../media/image6.sv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77FC49-908E-7282-71D1-FF9B45CC79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11027" y="-211028"/>
            <a:ext cx="6880030" cy="73020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FB5ACA-D821-A539-94D6-EEC7337F3AF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 rot="10800000" flipV="1">
            <a:off x="44320" y="1"/>
            <a:ext cx="9055360" cy="3109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00D8EF-2DF1-88B7-4784-92F60D932A2D}"/>
              </a:ext>
            </a:extLst>
          </p:cNvPr>
          <p:cNvSpPr/>
          <p:nvPr/>
        </p:nvSpPr>
        <p:spPr>
          <a:xfrm rot="5400000">
            <a:off x="4429545" y="2165578"/>
            <a:ext cx="28490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8E44-B184-3318-E83E-1ED0427C4C32}"/>
              </a:ext>
            </a:extLst>
          </p:cNvPr>
          <p:cNvSpPr txBox="1"/>
          <p:nvPr/>
        </p:nvSpPr>
        <p:spPr>
          <a:xfrm>
            <a:off x="4109523" y="6595122"/>
            <a:ext cx="1032976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b="1" i="0" dirty="0">
                <a:solidFill>
                  <a:schemeClr val="bg1">
                    <a:lumMod val="95000"/>
                  </a:schemeClr>
                </a:solidFill>
                <a:ea typeface="Montserrat Semi" charset="0"/>
                <a:cs typeface="Montserrat Semi" charset="0"/>
              </a:rPr>
              <a:t>www.utm.my</a:t>
            </a:r>
            <a:endParaRPr lang="en-US" sz="825" b="1" i="0" dirty="0">
              <a:solidFill>
                <a:schemeClr val="accent4"/>
              </a:solidFill>
              <a:ea typeface="Montserrat Semi" charset="0"/>
              <a:cs typeface="Montserrat Sem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25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8336-6E97-19E8-88CA-FE902FF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694A3-909C-4BC7-8684-CF6A8DF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86F0-1709-92BF-CEC8-7DFA93F8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93728-E209-C557-FA87-A687A2439D90}"/>
              </a:ext>
            </a:extLst>
          </p:cNvPr>
          <p:cNvGrpSpPr/>
          <p:nvPr/>
        </p:nvGrpSpPr>
        <p:grpSpPr>
          <a:xfrm>
            <a:off x="0" y="0"/>
            <a:ext cx="3242592" cy="7438348"/>
            <a:chOff x="0" y="0"/>
            <a:chExt cx="4323456" cy="74383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291997A-C196-DCDE-0EA0-51D4FDEDA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18649" cy="4463581"/>
            </a:xfrm>
            <a:prstGeom prst="rect">
              <a:avLst/>
            </a:prstGeom>
          </p:spPr>
        </p:pic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14354985-0AB8-E860-28D0-17AD10E6B863}"/>
                </a:ext>
              </a:extLst>
            </p:cNvPr>
            <p:cNvSpPr/>
            <p:nvPr userDrawn="1"/>
          </p:nvSpPr>
          <p:spPr>
            <a:xfrm rot="8446488">
              <a:off x="1155879" y="3069975"/>
              <a:ext cx="2214654" cy="3120244"/>
            </a:xfrm>
            <a:prstGeom prst="parallelogram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C95F9B9-2A5B-F93A-EA33-600D61519C46}"/>
                </a:ext>
              </a:extLst>
            </p:cNvPr>
            <p:cNvSpPr/>
            <p:nvPr userDrawn="1"/>
          </p:nvSpPr>
          <p:spPr>
            <a:xfrm rot="8446488">
              <a:off x="2539020" y="5497285"/>
              <a:ext cx="1784436" cy="1941063"/>
            </a:xfrm>
            <a:custGeom>
              <a:avLst/>
              <a:gdLst>
                <a:gd name="connsiteX0" fmla="*/ 0 w 2214654"/>
                <a:gd name="connsiteY0" fmla="*/ 3120244 h 3120244"/>
                <a:gd name="connsiteX1" fmla="*/ 553664 w 2214654"/>
                <a:gd name="connsiteY1" fmla="*/ 0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2214654"/>
                <a:gd name="connsiteY0" fmla="*/ 3120244 h 3120244"/>
                <a:gd name="connsiteX1" fmla="*/ 341522 w 2214654"/>
                <a:gd name="connsiteY1" fmla="*/ 1179181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1784436"/>
                <a:gd name="connsiteY0" fmla="*/ 1941063 h 1941063"/>
                <a:gd name="connsiteX1" fmla="*/ 341522 w 1784436"/>
                <a:gd name="connsiteY1" fmla="*/ 0 h 1941063"/>
                <a:gd name="connsiteX2" fmla="*/ 1784436 w 1784436"/>
                <a:gd name="connsiteY2" fmla="*/ 1205605 h 1941063"/>
                <a:gd name="connsiteX3" fmla="*/ 1660991 w 1784436"/>
                <a:gd name="connsiteY3" fmla="*/ 1941063 h 1941063"/>
                <a:gd name="connsiteX4" fmla="*/ 0 w 1784436"/>
                <a:gd name="connsiteY4" fmla="*/ 1941063 h 194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4436" h="1941063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B5606AF-41C6-0137-32A8-807A0A5D0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594748" y="-1062392"/>
            <a:ext cx="1803810" cy="33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4D5AD-886B-F49D-187E-EF188BA5C86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9000"/>
          </a:blip>
          <a:stretch>
            <a:fillRect/>
          </a:stretch>
        </p:blipFill>
        <p:spPr>
          <a:xfrm rot="5400000" flipV="1">
            <a:off x="-2832572" y="2842942"/>
            <a:ext cx="7046892" cy="136101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DB128DF-CD31-0CEB-4D7C-71A6580623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12409" y="3743463"/>
            <a:ext cx="1560526" cy="297801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FF214BE-EBD1-4C75-B559-2A68D3A718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320140" y="6145600"/>
            <a:ext cx="419100" cy="59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4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22F56BC-829B-3BC8-96F9-8B26B69F0F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3" b="7973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D44EBC3-45F4-19C6-0AEB-16C907B4BCB5}"/>
              </a:ext>
            </a:extLst>
          </p:cNvPr>
          <p:cNvSpPr/>
          <p:nvPr/>
        </p:nvSpPr>
        <p:spPr>
          <a:xfrm>
            <a:off x="0" y="1"/>
            <a:ext cx="9144000" cy="6858000"/>
          </a:xfrm>
          <a:prstGeom prst="rect">
            <a:avLst/>
          </a:prstGeom>
          <a:gradFill flip="none" rotWithShape="1">
            <a:gsLst>
              <a:gs pos="12000">
                <a:srgbClr val="6C1D35">
                  <a:alpha val="68000"/>
                </a:srgbClr>
              </a:gs>
              <a:gs pos="77000">
                <a:schemeClr val="accent1">
                  <a:lumMod val="7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8AE63-F58B-C295-2F24-0E7B0755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40798-1691-00D6-C3D9-64CC3EB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835F-2749-4B9F-A9CB-5E0BF43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BA782F0-1339-9AD7-88E8-E482862A0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5334000" y="-35081"/>
            <a:ext cx="3688080" cy="69211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55F31CF-FB2A-3612-E2CA-58665EF22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8451197" y="349094"/>
            <a:ext cx="1507527" cy="2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47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0EB9F-5240-3366-0373-E8B7C3C2A4FE}"/>
              </a:ext>
            </a:extLst>
          </p:cNvPr>
          <p:cNvSpPr/>
          <p:nvPr/>
        </p:nvSpPr>
        <p:spPr>
          <a:xfrm>
            <a:off x="0" y="-2"/>
            <a:ext cx="9172575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7B2D7-FB34-55B3-113A-7F96DDA7A8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/>
          <a:stretch/>
        </p:blipFill>
        <p:spPr>
          <a:xfrm rot="16200000">
            <a:off x="1157288" y="-1157288"/>
            <a:ext cx="6858000" cy="91725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2BBA-3015-27B9-D210-D15544F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AB71C-4835-3D07-2B7F-A7456A46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7A9C-9AFC-99CF-42E5-627A5869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29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AB3E7-A192-D902-B47D-B2CC33AF3A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956ED8E-CF4D-D756-5FA9-5F3263853A9C}"/>
              </a:ext>
            </a:extLst>
          </p:cNvPr>
          <p:cNvGrpSpPr/>
          <p:nvPr/>
        </p:nvGrpSpPr>
        <p:grpSpPr>
          <a:xfrm>
            <a:off x="0" y="6438899"/>
            <a:ext cx="3319088" cy="419100"/>
            <a:chOff x="0" y="6438899"/>
            <a:chExt cx="4425450" cy="4191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85CCF7-2507-F40E-2E71-04B5C07C7F09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891B4BFE-7090-CB15-ACE2-E76D3D5E6402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796ACF-1284-B0D3-20AC-1A411B0B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47752"/>
            <a:ext cx="7886700" cy="1500187"/>
          </a:xfrm>
        </p:spPr>
        <p:txBody>
          <a:bodyPr anchor="t">
            <a:normAutofit/>
          </a:bodyPr>
          <a:lstStyle>
            <a:lvl1pPr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66E6B-CFF2-F241-A3D1-4FD4DAC4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814638"/>
            <a:ext cx="7886700" cy="335756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DBAF-8EC8-76B5-BD68-4EE498D1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1A71-0977-DB43-6672-9DD2B43F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AA75-9A52-677C-BAAB-361020BE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CA6469-707B-4B2D-CE38-C2E80563F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B94ABDC-D409-D0CF-BFD9-E874B46B7EEF}"/>
              </a:ext>
            </a:extLst>
          </p:cNvPr>
          <p:cNvGrpSpPr/>
          <p:nvPr/>
        </p:nvGrpSpPr>
        <p:grpSpPr>
          <a:xfrm>
            <a:off x="0" y="0"/>
            <a:ext cx="1601261" cy="390908"/>
            <a:chOff x="0" y="0"/>
            <a:chExt cx="2135014" cy="3909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CC8F0A-14AF-F65B-6D14-A51CBEFF1729}"/>
                </a:ext>
              </a:extLst>
            </p:cNvPr>
            <p:cNvSpPr/>
            <p:nvPr userDrawn="1"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7D170A48-ED14-4722-ED48-412F8B7C44AA}"/>
                </a:ext>
              </a:extLst>
            </p:cNvPr>
            <p:cNvSpPr/>
            <p:nvPr userDrawn="1"/>
          </p:nvSpPr>
          <p:spPr>
            <a:xfrm flipV="1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B6D801-7EDC-E981-F405-040472A43AB5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0F7BDA-9A67-4500-FC96-D0DCA5669FC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D3808A-7510-8E14-D035-56A7CA6C58A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0393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5FB79D-2789-2E82-ACD5-FA141CFFB8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6C3F4-36B0-1561-8EFF-3B31A7774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1381125"/>
          </a:xfrm>
        </p:spPr>
        <p:txBody>
          <a:bodyPr anchor="t">
            <a:normAutofit/>
          </a:bodyPr>
          <a:lstStyle>
            <a:lvl1pPr algn="l"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4E23C-BC64-3E31-C7C9-1CCB71C5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601119"/>
            <a:ext cx="6858000" cy="3461751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AB4A-F681-D1CE-536F-A8600B87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C815-2D69-C272-C63C-A195EBFE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A072-5E8E-BDBB-35CA-3A355E5D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1D35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B2FEB-1CDE-753F-3231-2131ED23F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0EA2A08-0768-E840-71C5-CB5BA198C844}"/>
              </a:ext>
            </a:extLst>
          </p:cNvPr>
          <p:cNvGrpSpPr/>
          <p:nvPr/>
        </p:nvGrpSpPr>
        <p:grpSpPr>
          <a:xfrm>
            <a:off x="0" y="336866"/>
            <a:ext cx="628650" cy="390908"/>
            <a:chOff x="0" y="585597"/>
            <a:chExt cx="838200" cy="39090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FE56D3-CDFF-99C8-081E-21872711345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55D81439-E4CF-3498-4773-82E6A34DB949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56CB3B-27D6-0844-017F-CFA08F52311B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5E31CA-977D-9659-5E4D-1E4EC75ABA7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4385F2-2245-0F8C-C446-564E2DE5084A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433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5386308-8E2B-C701-D9C5-CFF5B6D9F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8221F6-B30E-6574-4F98-77B2C490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6BEFF-E786-80CC-C462-EC9F1C9C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CF37-673E-EFC4-46AD-C8B8CC64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8A85-2B88-6B89-6CF8-4D396AB7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774E-879A-AA6A-5AEF-0FD775B9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F9B18A-4C13-213C-5ECD-7D00902A82F8}"/>
              </a:ext>
            </a:extLst>
          </p:cNvPr>
          <p:cNvSpPr/>
          <p:nvPr/>
        </p:nvSpPr>
        <p:spPr>
          <a:xfrm>
            <a:off x="2920816" y="21432"/>
            <a:ext cx="3345126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0DAC0-1D7C-425C-A3EA-189775AB0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A6FB34-FC21-998E-F2ED-B41CC15A4311}"/>
              </a:ext>
            </a:extLst>
          </p:cNvPr>
          <p:cNvSpPr/>
          <p:nvPr/>
        </p:nvSpPr>
        <p:spPr>
          <a:xfrm>
            <a:off x="-1" y="6808663"/>
            <a:ext cx="9186760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1E5DFC-83E6-86F2-21A3-C9353A831D94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6CDA0-D409-8B80-7C3D-EE78328F12C7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DCC3F2-36B2-C662-DECB-01503AFCAA9E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6899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60D2230-4C54-C188-62C4-95CC76262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66CAA0-852B-2260-4E79-4DCDC5D3C474}"/>
              </a:ext>
            </a:extLst>
          </p:cNvPr>
          <p:cNvSpPr/>
          <p:nvPr/>
        </p:nvSpPr>
        <p:spPr>
          <a:xfrm>
            <a:off x="-28575" y="1690688"/>
            <a:ext cx="9172575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09984-B07C-717A-A1FC-A0212B12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6CC2-F4AE-C871-25CA-0693B8E51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4C4D5-028B-CF4F-DB83-2E7DAE145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ECB3-6230-1C4A-4271-8B1B329A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EBE9-6EE3-30E5-37E9-966CEBBA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42C9F-71DE-08A3-B2D8-60F040A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BACEB-C3CA-5C73-C1CD-7E2882892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2450C2-7E85-EAB2-8C8F-8B13B9657507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93644A-0A35-6B8C-F216-AC1945DFC79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806244-EF9A-642C-8573-A2BFA17DB33E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0741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169F28-4F60-04EA-2355-80F723258D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D3BD4A-F379-8CFF-EBD6-707DD0E7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9623-7488-E134-22F1-5329048E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D7D39-C4CD-9439-3408-FF0BFA1B1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50B8F-83C3-D985-5919-F1A3FDF4D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CF953-DD56-9B85-AB4B-B9C9F0FF0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25C81-2863-04F8-8182-D218BA27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521E1-8180-A360-8696-A84620A8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D6C59-8054-7190-9FD8-FAA59634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3B567-24C2-C088-6F75-913992BE2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2B20C0-22D4-422D-2940-7F540F191BF7}"/>
              </a:ext>
            </a:extLst>
          </p:cNvPr>
          <p:cNvSpPr/>
          <p:nvPr/>
        </p:nvSpPr>
        <p:spPr>
          <a:xfrm>
            <a:off x="5074" y="342266"/>
            <a:ext cx="770222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70257A-EF80-EF1A-EE95-68EB9FBC2F71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EA7E83-8757-44B8-B8ED-EFD855548FA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4A3-2F29-E99E-59AA-19FD2D71718A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0706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A05E41-FECA-555C-4DA5-FBDABE88EA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EFDB3D2-BABB-4614-ACBD-74206D54EFA7}"/>
              </a:ext>
            </a:extLst>
          </p:cNvPr>
          <p:cNvGrpSpPr/>
          <p:nvPr/>
        </p:nvGrpSpPr>
        <p:grpSpPr>
          <a:xfrm flipH="1">
            <a:off x="6672360" y="6438900"/>
            <a:ext cx="2471641" cy="419101"/>
            <a:chOff x="0" y="6438899"/>
            <a:chExt cx="4425450" cy="4191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C9DBE5-42FF-593C-82CE-C4B2774E3AD0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D8516993-C2D5-28D4-6E6E-D3A5B19FD20F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B218D0-0E4A-6601-1430-D75D1D89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731" y="2766219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7DD1-72E8-53B4-A8B5-16105BC6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21DE3-618B-CDA6-C30A-1DB7F4E9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8125-E5E8-EEE2-D064-3848DBB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F13517-FB38-BE9B-5A77-235BBF8CE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5FA5D2-1257-770C-1E2F-2CCA5238FD2A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9FA834-B150-3245-D347-588904243A5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EF11FA-4280-83FF-5E5F-70581310F2C4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8014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80EC996-29B5-35CD-CAA8-09FAAB535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3534946" y="1270"/>
            <a:ext cx="5334040" cy="1831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E085B5-6456-E991-6904-BB25D1005185}"/>
              </a:ext>
            </a:extLst>
          </p:cNvPr>
          <p:cNvSpPr/>
          <p:nvPr/>
        </p:nvSpPr>
        <p:spPr>
          <a:xfrm>
            <a:off x="-28574" y="0"/>
            <a:ext cx="3573066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5AF6C-3A58-DD89-B778-7C9B4E49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828977" cy="1600200"/>
          </a:xfrm>
        </p:spPr>
        <p:txBody>
          <a:bodyPr anchor="b">
            <a:normAutofit/>
          </a:bodyPr>
          <a:lstStyle>
            <a:lvl1pPr>
              <a:defRPr sz="21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0643-5DEF-0301-05FB-43BFE781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84E7D-D23B-8AA6-561F-6482F0A12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82897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D1C3-135E-09A0-2E54-EFBC9A5D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11F67-329D-954C-CD5C-1AA093EC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B87E-06D7-61E3-D9E0-49BF14B3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EA7C3-CAA4-9F46-F633-CAA69D61B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D1F696-3383-CCD0-5F6F-4B9E89375262}"/>
              </a:ext>
            </a:extLst>
          </p:cNvPr>
          <p:cNvSpPr/>
          <p:nvPr/>
        </p:nvSpPr>
        <p:spPr>
          <a:xfrm rot="5400000">
            <a:off x="135965" y="3406639"/>
            <a:ext cx="6858000" cy="447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DF8517-697A-D659-D645-CCC025297F18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8F6DD2-968A-9801-9B22-22DBD1C894E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835E16-0810-A050-7387-E04FC0CFD8C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849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DE0F43-CB86-1C9B-53B1-54930B9BB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7D5CF-8052-62A2-8652-9E5660A05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CEA865B-9359-931D-9136-36413785F784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C6828-16EB-91B9-7078-52ADFDC0F2F1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EA9D62-1A2E-5482-2A68-9FCEFEB913F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6038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6208AF-0FB5-0709-9E4A-86BB9C81B267}"/>
              </a:ext>
            </a:extLst>
          </p:cNvPr>
          <p:cNvSpPr/>
          <p:nvPr/>
        </p:nvSpPr>
        <p:spPr>
          <a:xfrm>
            <a:off x="-28575" y="0"/>
            <a:ext cx="9172575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6B25-0C92-A630-DD9E-0DC228627926}"/>
              </a:ext>
            </a:extLst>
          </p:cNvPr>
          <p:cNvGrpSpPr/>
          <p:nvPr/>
        </p:nvGrpSpPr>
        <p:grpSpPr>
          <a:xfrm>
            <a:off x="5385090" y="6473575"/>
            <a:ext cx="3758911" cy="390911"/>
            <a:chOff x="7180118" y="6489891"/>
            <a:chExt cx="5011881" cy="3909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51D9DD-D54B-BD6E-1FC0-1E96064A7DD4}"/>
                </a:ext>
              </a:extLst>
            </p:cNvPr>
            <p:cNvSpPr/>
            <p:nvPr userDrawn="1"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12D63A4-B45F-D7EE-07AE-ED4F2AA9FBF6}"/>
                </a:ext>
              </a:extLst>
            </p:cNvPr>
            <p:cNvSpPr/>
            <p:nvPr userDrawn="1"/>
          </p:nvSpPr>
          <p:spPr>
            <a:xfrm rot="10800000" flipV="1">
              <a:off x="7180118" y="6489895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E4DBBFF-D866-CE38-8CC8-48E42BA7E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165" y="283590"/>
            <a:ext cx="1103119" cy="497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CA337-96B6-AF15-88CE-5A1B9B8EBDB6}"/>
              </a:ext>
            </a:extLst>
          </p:cNvPr>
          <p:cNvGrpSpPr/>
          <p:nvPr/>
        </p:nvGrpSpPr>
        <p:grpSpPr>
          <a:xfrm>
            <a:off x="-44162" y="0"/>
            <a:ext cx="1598115" cy="390908"/>
            <a:chOff x="-58882" y="0"/>
            <a:chExt cx="2130820" cy="3909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5327DB-3941-6535-2638-26DDF5148B23}"/>
                </a:ext>
              </a:extLst>
            </p:cNvPr>
            <p:cNvSpPr/>
            <p:nvPr userDrawn="1"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751988F2-DBDB-53FA-2E8B-DE674D6D2B6A}"/>
                </a:ext>
              </a:extLst>
            </p:cNvPr>
            <p:cNvSpPr/>
            <p:nvPr userDrawn="1"/>
          </p:nvSpPr>
          <p:spPr>
            <a:xfrm flipV="1">
              <a:off x="1858639" y="0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B451E3-7C30-F7E8-27F1-20A1711850CE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9E3A6-8792-EBEF-E21F-6506CA347F7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7814D-56F3-7C85-157F-E73DAB5F042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5165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957FA-0954-130C-016A-4BAA3351102F}"/>
              </a:ext>
            </a:extLst>
          </p:cNvPr>
          <p:cNvSpPr/>
          <p:nvPr/>
        </p:nvSpPr>
        <p:spPr>
          <a:xfrm rot="5400000">
            <a:off x="4549140" y="2285174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5F1816-5F6B-7928-15B1-1910931B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81052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705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AFB9-D289-5BB8-FC6E-3A98AE611BFD}"/>
              </a:ext>
            </a:extLst>
          </p:cNvPr>
          <p:cNvSpPr/>
          <p:nvPr/>
        </p:nvSpPr>
        <p:spPr>
          <a:xfrm rot="5400000">
            <a:off x="4554215" y="-4562095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C5E7F-48AB-BACC-5157-81B7026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81052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744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20">
    <p:bg>
      <p:bgPr>
        <a:solidFill>
          <a:srgbClr val="4B47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AA9A-AEC4-6046-A3F2-5369021A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75A35-BAA4-3243-952D-99C48B834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C836B4-5E2D-D94D-B92C-56626921C682}"/>
              </a:ext>
            </a:extLst>
          </p:cNvPr>
          <p:cNvCxnSpPr/>
          <p:nvPr/>
        </p:nvCxnSpPr>
        <p:spPr>
          <a:xfrm>
            <a:off x="-9525" y="101600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89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9975F-708A-F234-4722-AEB23434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7F26E-314A-B65E-03F9-0EADD49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2CC6-2915-3AF9-A194-796105577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C745-1356-0A9F-002D-66D467AF4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9A2B0-BC9C-678A-D6F9-6A0D62CAA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0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D0E23-96B9-5B33-C4F6-4DBCE5F54F96}"/>
              </a:ext>
            </a:extLst>
          </p:cNvPr>
          <p:cNvSpPr txBox="1"/>
          <p:nvPr/>
        </p:nvSpPr>
        <p:spPr>
          <a:xfrm>
            <a:off x="1879042" y="3216670"/>
            <a:ext cx="5034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spc="2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TOPIC 1 - 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02EFA-FD94-7D1F-B76C-45B63CEC7823}"/>
              </a:ext>
            </a:extLst>
          </p:cNvPr>
          <p:cNvSpPr txBox="1"/>
          <p:nvPr/>
        </p:nvSpPr>
        <p:spPr>
          <a:xfrm>
            <a:off x="140677" y="2501089"/>
            <a:ext cx="8802356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50" b="1" kern="0" dirty="0">
                <a:solidFill>
                  <a:srgbClr val="6C1D35"/>
                </a:solidFill>
              </a:rPr>
              <a:t>SECP3623 DATABASE PROGRAMMING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A5E36-46DF-4261-B2A9-84180659C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362" y="1306887"/>
            <a:ext cx="1687055" cy="5639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AB95FE-9FB6-3175-C6AD-6B6A256E7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837" y="6381373"/>
            <a:ext cx="1602578" cy="12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46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6133-417D-9582-AD5C-C9B40323D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922372"/>
            <a:ext cx="7886700" cy="76831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LECTURE LEARNING OUTCOME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E07F62-62EA-F0CE-56B7-24048F3E2214}"/>
              </a:ext>
            </a:extLst>
          </p:cNvPr>
          <p:cNvGrpSpPr/>
          <p:nvPr/>
        </p:nvGrpSpPr>
        <p:grpSpPr>
          <a:xfrm>
            <a:off x="567123" y="2349187"/>
            <a:ext cx="8117798" cy="623822"/>
            <a:chOff x="531658" y="2405747"/>
            <a:chExt cx="10823730" cy="831763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1F245CD-7264-D27E-FACB-A8B4DD06F1D6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Text Placeholder 22">
              <a:extLst>
                <a:ext uri="{FF2B5EF4-FFF2-40B4-BE49-F238E27FC236}">
                  <a16:creationId xmlns:a16="http://schemas.microsoft.com/office/drawing/2014/main" id="{2F0FB714-3007-23C8-9764-E8C7159E2C4E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9E73F1-1DD6-8DC9-0B8E-AD1B04B34741}"/>
                </a:ext>
              </a:extLst>
            </p:cNvPr>
            <p:cNvSpPr txBox="1"/>
            <p:nvPr/>
          </p:nvSpPr>
          <p:spPr>
            <a:xfrm>
              <a:off x="1517893" y="2571912"/>
              <a:ext cx="946905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dirty="0">
                  <a:highlight>
                    <a:srgbClr val="FFFF00"/>
                  </a:highlight>
                </a:rPr>
                <a:t>Understand database fundamentals and applications.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7CF5489-1A93-67FA-16A5-04A76546BEFF}"/>
              </a:ext>
            </a:extLst>
          </p:cNvPr>
          <p:cNvSpPr txBox="1"/>
          <p:nvPr/>
        </p:nvSpPr>
        <p:spPr>
          <a:xfrm>
            <a:off x="596034" y="1825799"/>
            <a:ext cx="662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/>
              <a:t>By the end of this lecture, students should be able to:</a:t>
            </a:r>
            <a:endParaRPr lang="en-MY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44AC4C7-0CB4-FF63-FCB9-63FEE6F22477}"/>
              </a:ext>
            </a:extLst>
          </p:cNvPr>
          <p:cNvSpPr/>
          <p:nvPr/>
        </p:nvSpPr>
        <p:spPr>
          <a:xfrm>
            <a:off x="567123" y="3007572"/>
            <a:ext cx="8117798" cy="623822"/>
          </a:xfrm>
          <a:prstGeom prst="round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1C8EDED6-5A04-187B-A687-9F2524E0180E}"/>
              </a:ext>
            </a:extLst>
          </p:cNvPr>
          <p:cNvSpPr txBox="1">
            <a:spLocks/>
          </p:cNvSpPr>
          <p:nvPr/>
        </p:nvSpPr>
        <p:spPr>
          <a:xfrm>
            <a:off x="627459" y="3130231"/>
            <a:ext cx="679340" cy="36415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D76F8F-9451-9946-9AC6-6A4DC9337D85}"/>
              </a:ext>
            </a:extLst>
          </p:cNvPr>
          <p:cNvSpPr txBox="1"/>
          <p:nvPr/>
        </p:nvSpPr>
        <p:spPr>
          <a:xfrm>
            <a:off x="1306799" y="3119428"/>
            <a:ext cx="7101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/>
            </a:pPr>
            <a:r>
              <a:rPr lang="en-MY" dirty="0">
                <a:highlight>
                  <a:srgbClr val="FFFF00"/>
                </a:highlight>
              </a:rPr>
              <a:t>Differentiate relational vs non-relational databases.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FB3996-836C-433B-849F-07DE0EB4D6C8}"/>
              </a:ext>
            </a:extLst>
          </p:cNvPr>
          <p:cNvGrpSpPr/>
          <p:nvPr/>
        </p:nvGrpSpPr>
        <p:grpSpPr>
          <a:xfrm>
            <a:off x="551645" y="3669242"/>
            <a:ext cx="8117798" cy="623822"/>
            <a:chOff x="531658" y="2405747"/>
            <a:chExt cx="10823730" cy="831763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1CCCF47-DA2B-EE2D-1175-8353E84752A4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rgbClr val="9562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Text Placeholder 22">
              <a:extLst>
                <a:ext uri="{FF2B5EF4-FFF2-40B4-BE49-F238E27FC236}">
                  <a16:creationId xmlns:a16="http://schemas.microsoft.com/office/drawing/2014/main" id="{8568B624-1F62-97ED-C328-D9F20C650282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C9E1B7-E84D-CFFF-E5B9-40004CBFE476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 sz="2000"/>
              </a:pPr>
              <a:r>
                <a:rPr lang="en-US" dirty="0">
                  <a:highlight>
                    <a:srgbClr val="FFFF00"/>
                  </a:highlight>
                </a:rPr>
                <a:t>Explain DBMS functions and data programming concepts.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F7C946A-1124-5C9A-FCDA-337B0D88CB6E}"/>
              </a:ext>
            </a:extLst>
          </p:cNvPr>
          <p:cNvGrpSpPr/>
          <p:nvPr/>
        </p:nvGrpSpPr>
        <p:grpSpPr>
          <a:xfrm>
            <a:off x="551645" y="4330736"/>
            <a:ext cx="8117798" cy="623822"/>
            <a:chOff x="531658" y="2405747"/>
            <a:chExt cx="10823730" cy="831763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70EA452-E984-6F24-0C71-96FD331BF962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Text Placeholder 22">
              <a:extLst>
                <a:ext uri="{FF2B5EF4-FFF2-40B4-BE49-F238E27FC236}">
                  <a16:creationId xmlns:a16="http://schemas.microsoft.com/office/drawing/2014/main" id="{4DB3C0A5-4666-F0C1-FC3F-BAD05E7E35A8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251F453-C9ED-7148-FA7B-213C2A2B0E76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 sz="2000"/>
              </a:pPr>
              <a:r>
                <a:rPr lang="en-MY" dirty="0">
                  <a:highlight>
                    <a:srgbClr val="FFFF00"/>
                  </a:highlight>
                </a:rPr>
                <a:t>Recognize data integrity principles.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D7A152B-0A88-D956-85D9-1AB520BFF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837" y="6381373"/>
            <a:ext cx="1602578" cy="12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20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1101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WHAT IS A DATABASE </a:t>
            </a:r>
            <a:r>
              <a:rPr sz="4000" b="1" dirty="0">
                <a:solidFill>
                  <a:schemeClr val="accent2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0" indent="-228600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2400" dirty="0"/>
              <a:t>Definition:</a:t>
            </a:r>
          </a:p>
          <a:p>
            <a:pPr marL="685800" lvl="1" indent="-228600">
              <a:spcBef>
                <a:spcPts val="500"/>
              </a:spcBef>
              <a:buClr>
                <a:srgbClr val="0070C0"/>
              </a:buClr>
              <a:buSzPts val="2000"/>
            </a:pPr>
            <a:r>
              <a:rPr lang="en-US" sz="2000" dirty="0">
                <a:solidFill>
                  <a:schemeClr val="accent2"/>
                </a:solidFill>
              </a:rPr>
              <a:t>Shared collection of logically related data (and a description of this data), designed to meet the information needs of an organization.</a:t>
            </a:r>
          </a:p>
          <a:p>
            <a:pPr marL="228600" lvl="0" indent="-228600">
              <a:spcBef>
                <a:spcPts val="1000"/>
              </a:spcBef>
              <a:buClr>
                <a:schemeClr val="dk1"/>
              </a:buClr>
              <a:buSzPts val="2400"/>
            </a:pPr>
            <a:r>
              <a:rPr lang="en-US" sz="2000" dirty="0"/>
              <a:t>A database is also defined as a self-describing collection of integrated records. </a:t>
            </a:r>
          </a:p>
          <a:p>
            <a:pPr marL="228600" lvl="0" indent="-228600">
              <a:spcBef>
                <a:spcPts val="1000"/>
              </a:spcBef>
              <a:buClr>
                <a:schemeClr val="dk1"/>
              </a:buClr>
              <a:buSzPts val="2400"/>
            </a:pPr>
            <a:r>
              <a:rPr lang="en-US" sz="2000" dirty="0"/>
              <a:t>Logically related data comprises entities, attributes, and relationships of an organization’s information.</a:t>
            </a:r>
          </a:p>
          <a:p>
            <a:r>
              <a:rPr lang="en-US" sz="2000" dirty="0"/>
              <a:t>In Relational Database Management System (RDBMS) like MySQL, SQL Server, Oracle, </a:t>
            </a:r>
            <a:r>
              <a:rPr lang="en-US" sz="2000" dirty="0" err="1"/>
              <a:t>etc</a:t>
            </a:r>
            <a:r>
              <a:rPr lang="en-US" sz="2000" dirty="0"/>
              <a:t>, the object that stores data is the table (or relation.</a:t>
            </a:r>
          </a:p>
          <a:p>
            <a:pPr lvl="1"/>
            <a:r>
              <a:rPr lang="en-US" sz="2000" dirty="0"/>
              <a:t>Examples include MySQL, Oracle, MongoDB.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70CBF-A37A-1BA5-9F1E-79BE83CE6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CBF83-81FE-EA61-C9A3-6667DF487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40" y="489605"/>
            <a:ext cx="7886700" cy="8515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DATABASE </a:t>
            </a:r>
            <a:endParaRPr lang="en-US" sz="4000" b="1" kern="1200" dirty="0">
              <a:solidFill>
                <a:schemeClr val="accent2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9A2051-1AAD-8231-A5FD-AA8809D3F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32" y="1759889"/>
            <a:ext cx="8631535" cy="361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23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IMPORTANT OF DATABASES</a:t>
            </a:r>
            <a:endParaRPr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2800" dirty="0"/>
              <a:t>Support business operations</a:t>
            </a:r>
            <a:r>
              <a:rPr lang="en-US" sz="2800" dirty="0"/>
              <a:t>.</a:t>
            </a:r>
            <a:endParaRPr sz="2800" dirty="0"/>
          </a:p>
          <a:p>
            <a:pPr>
              <a:defRPr sz="2000"/>
            </a:pPr>
            <a:r>
              <a:rPr sz="2800" dirty="0"/>
              <a:t>Enable decision making through analytics</a:t>
            </a:r>
            <a:r>
              <a:rPr lang="en-US" sz="2800" dirty="0"/>
              <a:t>.</a:t>
            </a:r>
            <a:endParaRPr sz="2800" dirty="0"/>
          </a:p>
          <a:p>
            <a:pPr>
              <a:defRPr sz="2000"/>
            </a:pPr>
            <a:r>
              <a:rPr sz="2800" dirty="0"/>
              <a:t>Ensure data security and integrity</a:t>
            </a:r>
            <a:r>
              <a:rPr lang="en-US" sz="2800" dirty="0"/>
              <a:t>.</a:t>
            </a:r>
            <a:endParaRPr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DATABASE APPLICATIONS</a:t>
            </a:r>
            <a:endParaRPr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Banking – customer accounts, transactions</a:t>
            </a:r>
          </a:p>
          <a:p>
            <a:pPr>
              <a:defRPr sz="2000"/>
            </a:pPr>
            <a:r>
              <a:rPr dirty="0"/>
              <a:t>E-commerce – product catalogs, orders, payments</a:t>
            </a:r>
          </a:p>
          <a:p>
            <a:pPr>
              <a:defRPr sz="2000"/>
            </a:pPr>
            <a:r>
              <a:rPr dirty="0"/>
              <a:t>Healthcare – patient records, prescriptions</a:t>
            </a:r>
          </a:p>
          <a:p>
            <a:pPr>
              <a:defRPr sz="2000"/>
            </a:pPr>
            <a:r>
              <a:rPr dirty="0"/>
              <a:t>Social Media – posts,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5998"/>
            <a:ext cx="7886700" cy="88087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TYPES OF DATA</a:t>
            </a:r>
            <a:endParaRPr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2800" dirty="0"/>
              <a:t>Structured data (tables, rows, columns)</a:t>
            </a:r>
          </a:p>
          <a:p>
            <a:pPr>
              <a:defRPr sz="2000"/>
            </a:pPr>
            <a:r>
              <a:rPr sz="2800" dirty="0"/>
              <a:t>Semi-structured (XML, JSON)</a:t>
            </a:r>
          </a:p>
          <a:p>
            <a:pPr>
              <a:defRPr sz="2000"/>
            </a:pPr>
            <a:r>
              <a:rPr sz="2800" dirty="0"/>
              <a:t>Unstructured (images, videos, text)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DATABASE EVOLUTION</a:t>
            </a:r>
            <a:endParaRPr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05708"/>
          </a:xfrm>
        </p:spPr>
        <p:txBody>
          <a:bodyPr>
            <a:noAutofit/>
          </a:bodyPr>
          <a:lstStyle/>
          <a:p>
            <a:endParaRPr sz="2800" dirty="0"/>
          </a:p>
          <a:p>
            <a:pPr>
              <a:defRPr sz="2000"/>
            </a:pPr>
            <a:r>
              <a:rPr sz="2800" dirty="0"/>
              <a:t>Flat files → Hierarchical DB → Relational DB → NoSQL → NewSQL</a:t>
            </a:r>
          </a:p>
          <a:p>
            <a:pPr>
              <a:defRPr sz="2000"/>
            </a:pPr>
            <a:r>
              <a:rPr sz="2800" dirty="0"/>
              <a:t>From centralized to distributed and cloud databases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RELATIONAL DATABASES</a:t>
            </a:r>
            <a:endParaRPr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2800" dirty="0"/>
              <a:t>Store</a:t>
            </a:r>
            <a:r>
              <a:rPr lang="en-US" sz="2800" dirty="0"/>
              <a:t>/organize</a:t>
            </a:r>
            <a:r>
              <a:rPr sz="2800" dirty="0"/>
              <a:t> data in tables (rows and columns)</a:t>
            </a:r>
          </a:p>
          <a:p>
            <a:pPr>
              <a:defRPr sz="2000"/>
            </a:pPr>
            <a:r>
              <a:rPr sz="2800" dirty="0"/>
              <a:t>Use primary keys and foreign keys</a:t>
            </a:r>
          </a:p>
          <a:p>
            <a:pPr>
              <a:defRPr sz="2000"/>
            </a:pPr>
            <a:r>
              <a:rPr sz="2800" dirty="0"/>
              <a:t>SQL queries for retrieval and manipulation</a:t>
            </a:r>
            <a:endParaRPr lang="en-US" sz="2800" dirty="0"/>
          </a:p>
          <a:p>
            <a:pPr lvl="1">
              <a:defRPr sz="2000"/>
            </a:pPr>
            <a:r>
              <a:rPr lang="en-MY" sz="2800" dirty="0"/>
              <a:t>Examples: MySQL, PostgreSQL</a:t>
            </a:r>
            <a:endParaRPr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ADVANTAGES OF RELATIONAL DATABASES</a:t>
            </a:r>
            <a:endParaRPr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2800" dirty="0"/>
              <a:t>Data integrity</a:t>
            </a:r>
          </a:p>
          <a:p>
            <a:pPr>
              <a:defRPr sz="2000"/>
            </a:pPr>
            <a:r>
              <a:rPr sz="2800" dirty="0"/>
              <a:t>Ease of querying with SQL</a:t>
            </a:r>
          </a:p>
          <a:p>
            <a:pPr>
              <a:defRPr sz="2000"/>
            </a:pPr>
            <a:r>
              <a:rPr sz="2800" dirty="0"/>
              <a:t>Normalization reduces redundancy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NON-RELATIONAL DATABASES</a:t>
            </a:r>
            <a:endParaRPr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2800" dirty="0"/>
              <a:t>Schema-less, flexible, scalable</a:t>
            </a:r>
          </a:p>
          <a:p>
            <a:pPr>
              <a:defRPr sz="2000"/>
            </a:pPr>
            <a:r>
              <a:rPr lang="en-US" sz="2800" dirty="0"/>
              <a:t>Types: </a:t>
            </a:r>
            <a:r>
              <a:rPr sz="2800" dirty="0"/>
              <a:t>Document (MongoDB), Key-value (Redis), Column (Cassandra), Graph (Neo4j)</a:t>
            </a:r>
          </a:p>
          <a:p>
            <a:pPr>
              <a:defRPr sz="2000"/>
            </a:pPr>
            <a:r>
              <a:rPr sz="2800" dirty="0"/>
              <a:t>Handle unstructured data</a:t>
            </a:r>
            <a:endParaRPr lang="en-US" sz="2800" dirty="0"/>
          </a:p>
          <a:p>
            <a:pPr lvl="1">
              <a:defRPr sz="2000"/>
            </a:pPr>
            <a:r>
              <a:rPr lang="en-MY" sz="2800" dirty="0"/>
              <a:t>Examples: MongoDB, Cassandra</a:t>
            </a:r>
            <a:endParaRPr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85" y="385223"/>
            <a:ext cx="7886700" cy="1325563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DVANTAGES OF NON-RELATIONAL DATABASES</a:t>
            </a:r>
            <a:endParaRPr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2800" dirty="0"/>
              <a:t>High scalability</a:t>
            </a:r>
          </a:p>
          <a:p>
            <a:pPr>
              <a:defRPr sz="2000"/>
            </a:pPr>
            <a:r>
              <a:rPr sz="2800" dirty="0"/>
              <a:t>Flexible data models</a:t>
            </a:r>
          </a:p>
          <a:p>
            <a:pPr>
              <a:defRPr sz="2000"/>
            </a:pPr>
            <a:r>
              <a:rPr sz="2800" dirty="0"/>
              <a:t>Handles unstructured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36"/>
            <a:ext cx="7886700" cy="1325563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chemeClr val="accent2">
                    <a:lumMod val="75000"/>
                  </a:schemeClr>
                </a:solidFill>
              </a:rPr>
              <a:t>R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ELATIONAL vs. NON-RELATIONAL COMPARISON</a:t>
            </a:r>
            <a:endParaRPr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173619"/>
          </a:xfrm>
        </p:spPr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2800" dirty="0"/>
              <a:t>Structure: Tables vs JSON/Key-Value</a:t>
            </a:r>
          </a:p>
          <a:p>
            <a:pPr>
              <a:defRPr sz="2000"/>
            </a:pPr>
            <a:r>
              <a:rPr sz="2800" dirty="0"/>
              <a:t>Query language: SQL vs APIs</a:t>
            </a:r>
          </a:p>
          <a:p>
            <a:pPr>
              <a:defRPr sz="2000"/>
            </a:pPr>
            <a:r>
              <a:rPr sz="2800" dirty="0"/>
              <a:t>Best use: Financial data vs Social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/>
          <p:nvPr/>
        </p:nvSpPr>
        <p:spPr>
          <a:xfrm>
            <a:off x="2545977" y="2037975"/>
            <a:ext cx="5402730" cy="2964331"/>
          </a:xfrm>
          <a:prstGeom prst="rect">
            <a:avLst/>
          </a:prstGeom>
          <a:solidFill>
            <a:srgbClr val="F4B081"/>
          </a:solidFill>
          <a:ln w="12700" cap="flat" cmpd="sng">
            <a:solidFill>
              <a:srgbClr val="31538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3173506" y="2462306"/>
            <a:ext cx="776941" cy="5677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3173506" y="3747503"/>
            <a:ext cx="776941" cy="5677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/>
          </p:nvPr>
        </p:nvSpPr>
        <p:spPr>
          <a:xfrm>
            <a:off x="62006" y="364357"/>
            <a:ext cx="7886700" cy="880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</a:pP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OVERVIEW OF DATABASE SYSTEM</a:t>
            </a:r>
            <a:endParaRPr sz="4000" dirty="0"/>
          </a:p>
        </p:txBody>
      </p:sp>
      <p:sp>
        <p:nvSpPr>
          <p:cNvPr id="195" name="Google Shape;195;p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96" name="Google Shape;196;p13" descr="User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763" y="2240639"/>
            <a:ext cx="1007782" cy="1007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3" descr="User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763" y="3527495"/>
            <a:ext cx="1007782" cy="1007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3" descr="Web desig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63788" y="2240639"/>
            <a:ext cx="1007782" cy="1007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3" descr="Web desig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63788" y="3527495"/>
            <a:ext cx="1007782" cy="1007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3" descr="Databa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48385" y="2853975"/>
            <a:ext cx="1007782" cy="1007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3" descr="Serv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53797" y="2853975"/>
            <a:ext cx="1007782" cy="100778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3"/>
          <p:cNvSpPr/>
          <p:nvPr/>
        </p:nvSpPr>
        <p:spPr>
          <a:xfrm>
            <a:off x="6030259" y="1729721"/>
            <a:ext cx="1918447" cy="30825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Database system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2734281" y="4515755"/>
            <a:ext cx="1632710" cy="33855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DB Applications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2734281" y="2169048"/>
            <a:ext cx="1632710" cy="23432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4953797" y="3924200"/>
            <a:ext cx="1007782" cy="33855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6548385" y="3924200"/>
            <a:ext cx="1007782" cy="33855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3"/>
          <p:cNvCxnSpPr>
            <a:stCxn id="198" idx="3"/>
          </p:cNvCxnSpPr>
          <p:nvPr/>
        </p:nvCxnSpPr>
        <p:spPr>
          <a:xfrm>
            <a:off x="4071570" y="2744530"/>
            <a:ext cx="917700" cy="463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08" name="Google Shape;208;p13"/>
          <p:cNvCxnSpPr>
            <a:stCxn id="199" idx="3"/>
          </p:cNvCxnSpPr>
          <p:nvPr/>
        </p:nvCxnSpPr>
        <p:spPr>
          <a:xfrm rot="10800000" flipH="1">
            <a:off x="4071570" y="3520186"/>
            <a:ext cx="936600" cy="511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09" name="Google Shape;209;p13"/>
          <p:cNvCxnSpPr/>
          <p:nvPr/>
        </p:nvCxnSpPr>
        <p:spPr>
          <a:xfrm>
            <a:off x="5961579" y="3208463"/>
            <a:ext cx="648397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10" name="Google Shape;210;p13"/>
          <p:cNvCxnSpPr/>
          <p:nvPr/>
        </p:nvCxnSpPr>
        <p:spPr>
          <a:xfrm>
            <a:off x="5961579" y="3522227"/>
            <a:ext cx="648397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11" name="Google Shape;211;p13"/>
          <p:cNvCxnSpPr/>
          <p:nvPr/>
        </p:nvCxnSpPr>
        <p:spPr>
          <a:xfrm>
            <a:off x="2283062" y="2763216"/>
            <a:ext cx="648397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12" name="Google Shape;212;p13"/>
          <p:cNvCxnSpPr/>
          <p:nvPr/>
        </p:nvCxnSpPr>
        <p:spPr>
          <a:xfrm>
            <a:off x="2323428" y="4092575"/>
            <a:ext cx="648397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213" name="Google Shape;213;p13"/>
          <p:cNvSpPr txBox="1"/>
          <p:nvPr/>
        </p:nvSpPr>
        <p:spPr>
          <a:xfrm>
            <a:off x="1097763" y="4535277"/>
            <a:ext cx="1007782" cy="33855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 txBox="1">
            <a:spLocks noGrp="1"/>
          </p:cNvSpPr>
          <p:nvPr>
            <p:ph type="title"/>
          </p:nvPr>
        </p:nvSpPr>
        <p:spPr>
          <a:xfrm>
            <a:off x="126232" y="320674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</a:pP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DATABASE MANAGEMENT SYSTEM (DBMS)</a:t>
            </a:r>
            <a:endParaRPr sz="4000" dirty="0"/>
          </a:p>
        </p:txBody>
      </p:sp>
      <p:sp>
        <p:nvSpPr>
          <p:cNvPr id="236" name="Google Shape;236;p16"/>
          <p:cNvSpPr txBox="1">
            <a:spLocks noGrp="1"/>
          </p:cNvSpPr>
          <p:nvPr>
            <p:ph idx="1"/>
          </p:nvPr>
        </p:nvSpPr>
        <p:spPr>
          <a:xfrm>
            <a:off x="153162" y="1407065"/>
            <a:ext cx="8990838" cy="5188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sz="2000" b="1" dirty="0">
                <a:solidFill>
                  <a:schemeClr val="accent2"/>
                </a:solidFill>
              </a:rPr>
              <a:t>FUNCTIONS: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sz="2000" b="1" dirty="0">
                <a:solidFill>
                  <a:schemeClr val="accent2"/>
                </a:solidFill>
              </a:rPr>
              <a:t>Data definition language (DDL).</a:t>
            </a:r>
            <a:endParaRPr sz="2000" b="1" dirty="0">
              <a:solidFill>
                <a:schemeClr val="accent2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/>
              <a:t>Permits specification of data types, structures and any data constraints.  </a:t>
            </a:r>
            <a:endParaRPr sz="20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/>
              <a:t>All specifications are stored in the database.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sz="2000" b="1" dirty="0">
                <a:solidFill>
                  <a:schemeClr val="accent2"/>
                </a:solidFill>
              </a:rPr>
              <a:t>Data manipulation language (DML).</a:t>
            </a:r>
            <a:endParaRPr sz="2000" b="1" dirty="0">
              <a:solidFill>
                <a:schemeClr val="accent2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/>
              <a:t>General enquiry facility (query language) of the data.</a:t>
            </a:r>
            <a:endParaRPr sz="20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/>
              <a:t>Using Structured Query Language (SQL) to produce required information.</a:t>
            </a:r>
          </a:p>
          <a:p>
            <a:pPr marL="342900" indent="-228600">
              <a:spcBef>
                <a:spcPts val="500"/>
              </a:spcBef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accent2"/>
                </a:solidFill>
              </a:rPr>
              <a:t>Data recovery</a:t>
            </a:r>
          </a:p>
          <a:p>
            <a:pPr marL="685800" lvl="1" indent="-228600">
              <a:spcBef>
                <a:spcPts val="500"/>
              </a:spcBef>
              <a:buClr>
                <a:schemeClr val="dk1"/>
              </a:buClr>
              <a:buSzPts val="2400"/>
            </a:pPr>
            <a:r>
              <a:rPr lang="en-US" sz="2000" dirty="0"/>
              <a:t>Enables the system to restore data lost due to hardware failure, software errors or power outages.</a:t>
            </a:r>
          </a:p>
          <a:p>
            <a:pPr marL="685800" lvl="1" indent="-228600">
              <a:spcBef>
                <a:spcPts val="500"/>
              </a:spcBef>
              <a:buClr>
                <a:schemeClr val="dk1"/>
              </a:buClr>
              <a:buSzPts val="2400"/>
            </a:pPr>
            <a:r>
              <a:rPr lang="en-US" sz="2000" dirty="0"/>
              <a:t>Provides backup and restore facilities to ensure data integrity and continuity</a:t>
            </a:r>
            <a:r>
              <a:rPr lang="en-US" sz="2000" dirty="0">
                <a:solidFill>
                  <a:schemeClr val="accent2"/>
                </a:solidFill>
              </a:rPr>
              <a:t>.</a:t>
            </a:r>
          </a:p>
          <a:p>
            <a:pPr marL="342900" indent="-228600">
              <a:spcBef>
                <a:spcPts val="500"/>
              </a:spcBef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accent2"/>
                </a:solidFill>
              </a:rPr>
              <a:t>Data security</a:t>
            </a:r>
          </a:p>
          <a:p>
            <a:pPr marL="685800" lvl="1" indent="-228600">
              <a:spcBef>
                <a:spcPts val="500"/>
              </a:spcBef>
              <a:buClr>
                <a:schemeClr val="dk1"/>
              </a:buClr>
              <a:buSzPts val="2400"/>
            </a:pPr>
            <a:r>
              <a:rPr lang="en-US" sz="2000" dirty="0"/>
              <a:t>Provides access control mechanisms such as authentication (valid users) and authorization (permission to perform operations).</a:t>
            </a:r>
          </a:p>
          <a:p>
            <a:pPr marL="685800" lvl="1" indent="-228600">
              <a:spcBef>
                <a:spcPts val="500"/>
              </a:spcBef>
              <a:buClr>
                <a:schemeClr val="dk1"/>
              </a:buClr>
              <a:buSzPts val="2400"/>
            </a:pPr>
            <a:r>
              <a:rPr lang="en-US" sz="2000" dirty="0"/>
              <a:t>Prevents unauthorized access, protect confidentiality, and maintains data integrity through encryption and audit trail.</a:t>
            </a:r>
            <a:endParaRPr sz="2000"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 txBox="1">
            <a:spLocks noGrp="1"/>
          </p:cNvSpPr>
          <p:nvPr>
            <p:ph type="title"/>
          </p:nvPr>
        </p:nvSpPr>
        <p:spPr>
          <a:xfrm>
            <a:off x="96087" y="733530"/>
            <a:ext cx="8796704" cy="109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</a:pP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COMPONENTS OF DBMS </a:t>
            </a:r>
            <a:b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ENVIRONMENT </a:t>
            </a:r>
            <a:endParaRPr sz="4000" dirty="0"/>
          </a:p>
        </p:txBody>
      </p:sp>
      <p:pic>
        <p:nvPicPr>
          <p:cNvPr id="270" name="Google Shape;270;p20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tretch/>
        </p:blipFill>
        <p:spPr>
          <a:xfrm>
            <a:off x="698989" y="2648506"/>
            <a:ext cx="7886700" cy="180834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YPES OF </a:t>
            </a:r>
            <a:r>
              <a:rPr sz="4000" b="1" dirty="0">
                <a:solidFill>
                  <a:schemeClr val="accent2">
                    <a:lumMod val="75000"/>
                  </a:schemeClr>
                </a:solidFill>
              </a:rPr>
              <a:t>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61268"/>
          </a:xfrm>
        </p:spPr>
        <p:txBody>
          <a:bodyPr>
            <a:noAutofit/>
          </a:bodyPr>
          <a:lstStyle/>
          <a:p>
            <a:pPr>
              <a:defRPr sz="2000"/>
            </a:pPr>
            <a:r>
              <a:rPr lang="en-US" sz="2800" dirty="0"/>
              <a:t>Hierarchical</a:t>
            </a:r>
          </a:p>
          <a:p>
            <a:pPr>
              <a:defRPr sz="2000"/>
            </a:pPr>
            <a:r>
              <a:rPr lang="en-US" sz="2800" dirty="0"/>
              <a:t>Network </a:t>
            </a:r>
          </a:p>
          <a:p>
            <a:pPr>
              <a:defRPr sz="2000"/>
            </a:pPr>
            <a:r>
              <a:rPr sz="2800" dirty="0"/>
              <a:t>Relational (RDBMS) – Oracle, MySQL</a:t>
            </a:r>
            <a:endParaRPr lang="en-US" sz="2800" dirty="0"/>
          </a:p>
          <a:p>
            <a:pPr>
              <a:defRPr sz="2000"/>
            </a:pPr>
            <a:r>
              <a:rPr lang="en-MY" sz="2800" dirty="0"/>
              <a:t>Object-oriented</a:t>
            </a:r>
            <a:endParaRPr sz="2800" dirty="0"/>
          </a:p>
          <a:p>
            <a:pPr>
              <a:defRPr sz="2000"/>
            </a:pPr>
            <a:r>
              <a:rPr sz="2800" dirty="0"/>
              <a:t>NoSQL DBMS – MongoDB, Cassandra</a:t>
            </a:r>
          </a:p>
          <a:p>
            <a:pPr>
              <a:defRPr sz="2000"/>
            </a:pPr>
            <a:r>
              <a:rPr sz="2800" dirty="0"/>
              <a:t>NewSQL DBMS – </a:t>
            </a:r>
            <a:r>
              <a:rPr sz="2800" dirty="0" err="1"/>
              <a:t>VoltDB</a:t>
            </a:r>
            <a:r>
              <a:rPr sz="2800" dirty="0"/>
              <a:t>, </a:t>
            </a:r>
            <a:r>
              <a:rPr sz="2800" dirty="0" err="1"/>
              <a:t>NuoDB</a:t>
            </a:r>
            <a:endParaRPr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USERS OF </a:t>
            </a:r>
            <a:r>
              <a:rPr sz="4000" b="1" dirty="0">
                <a:solidFill>
                  <a:schemeClr val="accent2">
                    <a:lumMod val="75000"/>
                  </a:schemeClr>
                </a:solidFill>
              </a:rPr>
              <a:t>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2800" dirty="0"/>
              <a:t>Database administrators (DBAs)</a:t>
            </a:r>
          </a:p>
          <a:p>
            <a:pPr>
              <a:defRPr sz="2000"/>
            </a:pPr>
            <a:r>
              <a:rPr sz="2800" dirty="0"/>
              <a:t>Application developers</a:t>
            </a:r>
          </a:p>
          <a:p>
            <a:pPr>
              <a:defRPr sz="2000"/>
            </a:pPr>
            <a:r>
              <a:rPr sz="2800" dirty="0"/>
              <a:t>End users</a:t>
            </a:r>
          </a:p>
          <a:p>
            <a:pPr>
              <a:defRPr sz="2000"/>
            </a:pPr>
            <a:r>
              <a:rPr sz="2800" dirty="0"/>
              <a:t>System analysts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chemeClr val="accent2">
                    <a:lumMod val="75000"/>
                  </a:schemeClr>
                </a:solidFill>
              </a:rPr>
              <a:t>D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ATA INTEGRITY </a:t>
            </a:r>
            <a:endParaRPr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pPr>
              <a:defRPr sz="2000"/>
            </a:pPr>
            <a:r>
              <a:rPr sz="2800" dirty="0"/>
              <a:t>Entity Integrity – uniqueness of rows</a:t>
            </a:r>
          </a:p>
          <a:p>
            <a:pPr>
              <a:defRPr sz="2000"/>
            </a:pPr>
            <a:r>
              <a:rPr sz="2800" dirty="0"/>
              <a:t>Referential Integrity – valid relationships</a:t>
            </a:r>
          </a:p>
          <a:p>
            <a:pPr>
              <a:defRPr sz="2000"/>
            </a:pPr>
            <a:r>
              <a:rPr sz="2800" dirty="0"/>
              <a:t>Domain Integrity – valid values within fields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85616-FEC8-5A7E-A0B8-33CDA2441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45896"/>
            <a:ext cx="7886700" cy="85374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DATA INTEGRITY</a:t>
            </a:r>
            <a:endParaRPr lang="en-MY"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F6C70-4224-655E-7B23-2E7E46F22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877222"/>
            <a:ext cx="8229600" cy="2790426"/>
          </a:xfrm>
        </p:spPr>
        <p:txBody>
          <a:bodyPr>
            <a:noAutofit/>
          </a:bodyPr>
          <a:lstStyle/>
          <a:p>
            <a:pPr algn="just"/>
            <a:r>
              <a:rPr lang="en-US" sz="2200" dirty="0"/>
              <a:t>Data integrity refers to the consistency and accuracy of the data. </a:t>
            </a:r>
          </a:p>
          <a:p>
            <a:pPr algn="just"/>
            <a:r>
              <a:rPr lang="en-US" sz="2200" dirty="0"/>
              <a:t>It is typically enforced by the procedures and guidelines in the database design phase. </a:t>
            </a:r>
          </a:p>
          <a:p>
            <a:pPr algn="just"/>
            <a:r>
              <a:rPr lang="en-US" sz="2200" dirty="0"/>
              <a:t>In RDMS, keys enforce data integrity. </a:t>
            </a:r>
          </a:p>
          <a:p>
            <a:pPr algn="just"/>
            <a:r>
              <a:rPr lang="en-US" sz="2200" dirty="0"/>
              <a:t>A key is user-defined and forces values in a table to conform to a specified standard (This standard will allow only certain kinds of values to be in the database). </a:t>
            </a:r>
          </a:p>
          <a:p>
            <a:pPr algn="just"/>
            <a:r>
              <a:rPr lang="en-US" sz="2200" dirty="0"/>
              <a:t>Data integrity refers to the consistency and accuracy of data and table relationships. </a:t>
            </a:r>
          </a:p>
          <a:p>
            <a:pPr algn="just"/>
            <a:r>
              <a:rPr lang="en-US" sz="2200" dirty="0"/>
              <a:t>The following table lists the types of integrity you can use:</a:t>
            </a:r>
            <a:endParaRPr lang="en-MY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5ECFC4-8930-576D-A420-343894121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4602200"/>
            <a:ext cx="589597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749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089E5-F5DA-540A-F28A-8FCCE3C59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6077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ENTITY INTEGRITY</a:t>
            </a:r>
            <a:endParaRPr lang="en-MY"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04B5F-1A7A-78AE-FEE6-35D47A0DF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225899"/>
            <a:ext cx="8229600" cy="1491916"/>
          </a:xfrm>
        </p:spPr>
        <p:txBody>
          <a:bodyPr>
            <a:noAutofit/>
          </a:bodyPr>
          <a:lstStyle/>
          <a:p>
            <a:r>
              <a:rPr lang="en-US" sz="2400" dirty="0"/>
              <a:t>To ensure that each row in a table is identifiably unique, you use entity integrity. </a:t>
            </a:r>
          </a:p>
          <a:p>
            <a:r>
              <a:rPr lang="en-US" sz="2400" dirty="0"/>
              <a:t>This is done with a few different types of keys or constraints, including unique, not null, and primary key constraints.</a:t>
            </a:r>
            <a:endParaRPr lang="en-MY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C455F-FAC3-A560-CF97-E93600CFA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0" y="2820811"/>
            <a:ext cx="8662581" cy="337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259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CC9D0-45DF-33EC-1F69-D6C44BF7C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Primary Key</a:t>
            </a:r>
            <a:endParaRPr lang="en-MY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9E362-6BBA-2188-2638-1D621892D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6580"/>
            <a:ext cx="9144000" cy="336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319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D0065-622F-EC28-F5C1-20021A84D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264247"/>
            <a:ext cx="7886700" cy="68029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REFERENTIAL INTEGRITY</a:t>
            </a:r>
            <a:endParaRPr lang="en-MY"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6ADF9-96AD-7DBE-EF23-BDDDBC31F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712" y="1094875"/>
            <a:ext cx="8229600" cy="3164753"/>
          </a:xfrm>
        </p:spPr>
        <p:txBody>
          <a:bodyPr>
            <a:noAutofit/>
          </a:bodyPr>
          <a:lstStyle/>
          <a:p>
            <a:r>
              <a:rPr lang="en-US" sz="2000" dirty="0"/>
              <a:t>Referential integrity refers to the consistency and accuracy between tables that can be linked together. </a:t>
            </a:r>
          </a:p>
          <a:p>
            <a:r>
              <a:rPr lang="en-US" sz="2000" dirty="0"/>
              <a:t>By having a primary key on the parent table and a foreign key on the child table, you achieve referential integrity.</a:t>
            </a:r>
          </a:p>
          <a:p>
            <a:r>
              <a:rPr lang="en-US" sz="2000" dirty="0"/>
              <a:t> A foreign key on the child table creates a link between one or more columns in the child table and the primary key on the parent table. </a:t>
            </a:r>
          </a:p>
          <a:p>
            <a:r>
              <a:rPr lang="en-US" sz="2000" dirty="0"/>
              <a:t>When a foreign key is present, it must reference a valid, existing primary key in the parent table. </a:t>
            </a:r>
          </a:p>
          <a:p>
            <a:r>
              <a:rPr lang="en-US" sz="2000" dirty="0"/>
              <a:t>This way, the data in both tables can maintain a proper relationship. </a:t>
            </a:r>
            <a:endParaRPr lang="en-MY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6D39D-D40A-A3C6-CECC-3CA439FDB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9628"/>
            <a:ext cx="8758833" cy="216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132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ABFA9-53E5-CEAE-63FB-32454BDED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2733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DOMAIN INTEGRITY</a:t>
            </a:r>
            <a:endParaRPr lang="en-MY"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02181-4C6B-FB90-1175-86A983011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3502"/>
            <a:ext cx="8229600" cy="1143000"/>
          </a:xfrm>
        </p:spPr>
        <p:txBody>
          <a:bodyPr>
            <a:normAutofit/>
          </a:bodyPr>
          <a:lstStyle/>
          <a:p>
            <a:r>
              <a:rPr lang="en-US" sz="2400" dirty="0"/>
              <a:t>To ensure that data values follow defined rules for formatting, range, and value using check and default constraints, you use domain integrity.</a:t>
            </a:r>
            <a:endParaRPr lang="en-MY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C61F3A-DA75-7DF6-8BA7-63F48277B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8" y="2528035"/>
            <a:ext cx="8406063" cy="378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050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85707"/>
            <a:ext cx="7886700" cy="1325563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chemeClr val="accent2">
                    <a:lumMod val="75000"/>
                  </a:schemeClr>
                </a:solidFill>
              </a:rPr>
              <a:t>C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HALLENGES IN DATABASE MANAGEMENT</a:t>
            </a:r>
            <a:endParaRPr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16544"/>
            <a:ext cx="7886700" cy="1912362"/>
          </a:xfrm>
        </p:spPr>
        <p:txBody>
          <a:bodyPr>
            <a:normAutofit lnSpcReduction="10000"/>
          </a:bodyPr>
          <a:lstStyle/>
          <a:p>
            <a:endParaRPr sz="2800" dirty="0"/>
          </a:p>
          <a:p>
            <a:pPr>
              <a:defRPr sz="2000"/>
            </a:pPr>
            <a:r>
              <a:rPr sz="2800" dirty="0"/>
              <a:t>Security threats</a:t>
            </a:r>
          </a:p>
          <a:p>
            <a:pPr>
              <a:defRPr sz="2000"/>
            </a:pPr>
            <a:r>
              <a:rPr sz="2800" dirty="0"/>
              <a:t>Scalability with Big Data</a:t>
            </a:r>
          </a:p>
          <a:p>
            <a:pPr>
              <a:defRPr sz="2000"/>
            </a:pPr>
            <a:r>
              <a:rPr sz="2800" dirty="0"/>
              <a:t>Performance optimization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32078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chemeClr val="accent2">
                    <a:lumMod val="75000"/>
                  </a:schemeClr>
                </a:solidFill>
              </a:rPr>
              <a:t>M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ODERN DATABASE TRENDS</a:t>
            </a:r>
            <a:endParaRPr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314296"/>
          </a:xfrm>
        </p:spPr>
        <p:txBody>
          <a:bodyPr>
            <a:noAutofit/>
          </a:bodyPr>
          <a:lstStyle/>
          <a:p>
            <a:pPr>
              <a:defRPr sz="2000"/>
            </a:pPr>
            <a:r>
              <a:rPr sz="2800" dirty="0"/>
              <a:t>Cloud databases</a:t>
            </a:r>
          </a:p>
          <a:p>
            <a:pPr>
              <a:defRPr sz="2000"/>
            </a:pPr>
            <a:r>
              <a:rPr sz="2800" dirty="0"/>
              <a:t>Distributed and parallel databases</a:t>
            </a:r>
          </a:p>
          <a:p>
            <a:pPr>
              <a:defRPr sz="2000"/>
            </a:pPr>
            <a:r>
              <a:rPr sz="2800" dirty="0"/>
              <a:t>Big Data and NoSQL</a:t>
            </a:r>
          </a:p>
          <a:p>
            <a:pPr>
              <a:defRPr sz="2000"/>
            </a:pPr>
            <a:r>
              <a:rPr sz="2800" dirty="0"/>
              <a:t>Integration with AI/ML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2325" y="613159"/>
            <a:ext cx="5862585" cy="97130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SUMMARY</a:t>
            </a:r>
            <a:endParaRPr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281" y="1875866"/>
            <a:ext cx="8611438" cy="4002419"/>
          </a:xfrm>
        </p:spPr>
        <p:txBody>
          <a:bodyPr>
            <a:noAutofit/>
          </a:bodyPr>
          <a:lstStyle/>
          <a:p>
            <a:pPr>
              <a:defRPr sz="2000"/>
            </a:pPr>
            <a:r>
              <a:rPr sz="2800" dirty="0"/>
              <a:t>Databases store and manage structured and unstructured data</a:t>
            </a:r>
            <a:r>
              <a:rPr lang="en-US" sz="2800" dirty="0"/>
              <a:t>.</a:t>
            </a:r>
            <a:endParaRPr sz="2800" dirty="0"/>
          </a:p>
          <a:p>
            <a:pPr>
              <a:defRPr sz="2000"/>
            </a:pPr>
            <a:r>
              <a:rPr sz="2800" dirty="0"/>
              <a:t>Relational vs Non-relational serve different use cases</a:t>
            </a:r>
            <a:r>
              <a:rPr lang="en-US" sz="2800" dirty="0"/>
              <a:t>.</a:t>
            </a:r>
            <a:endParaRPr sz="2800" dirty="0"/>
          </a:p>
          <a:p>
            <a:pPr>
              <a:defRPr sz="2000"/>
            </a:pPr>
            <a:r>
              <a:rPr sz="2800" dirty="0"/>
              <a:t>DBMS ensures</a:t>
            </a:r>
            <a:r>
              <a:rPr lang="en-US" sz="2800" dirty="0"/>
              <a:t> data management,</a:t>
            </a:r>
            <a:r>
              <a:rPr sz="2800" dirty="0"/>
              <a:t> integrity, recovery, and security</a:t>
            </a:r>
            <a:r>
              <a:rPr lang="en-US" sz="2800" dirty="0"/>
              <a:t>.</a:t>
            </a:r>
            <a:endParaRPr sz="2800" dirty="0"/>
          </a:p>
          <a:p>
            <a:pPr>
              <a:defRPr sz="2000"/>
            </a:pPr>
            <a:r>
              <a:rPr sz="2800" dirty="0"/>
              <a:t>SQL is standard language for relational databases</a:t>
            </a:r>
            <a:r>
              <a:rPr lang="en-US" sz="2800" dirty="0"/>
              <a:t>.</a:t>
            </a:r>
            <a:endParaRPr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31111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chemeClr val="accent2">
                    <a:lumMod val="75000"/>
                  </a:schemeClr>
                </a:solidFill>
              </a:rPr>
              <a:t>E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XERCISE </a:t>
            </a:r>
            <a:r>
              <a:rPr sz="40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63319" cy="3705330"/>
          </a:xfrm>
        </p:spPr>
        <p:txBody>
          <a:bodyPr>
            <a:noAutofit/>
          </a:bodyPr>
          <a:lstStyle/>
          <a:p>
            <a:pPr marL="0" indent="0">
              <a:buNone/>
              <a:defRPr sz="2000"/>
            </a:pPr>
            <a:r>
              <a:rPr lang="en-MY" sz="2800" b="1" dirty="0"/>
              <a:t>Group discussion: </a:t>
            </a:r>
          </a:p>
          <a:p>
            <a:pPr>
              <a:defRPr sz="2000"/>
            </a:pPr>
            <a:r>
              <a:rPr sz="2800" dirty="0"/>
              <a:t>Identify 3 databases used in daily life.</a:t>
            </a:r>
            <a:endParaRPr lang="en-US" sz="2800" dirty="0"/>
          </a:p>
          <a:p>
            <a:pPr>
              <a:defRPr sz="2000"/>
            </a:pPr>
            <a:r>
              <a:rPr lang="en-MY" sz="2800" dirty="0"/>
              <a:t>Relational vs Non-relational advantages.</a:t>
            </a:r>
          </a:p>
          <a:p>
            <a:pPr>
              <a:defRPr sz="2000"/>
            </a:pPr>
            <a:r>
              <a:rPr lang="en-US" sz="2800" dirty="0"/>
              <a:t>Define database and DBMS.</a:t>
            </a:r>
          </a:p>
          <a:p>
            <a:pPr>
              <a:defRPr sz="2000"/>
            </a:pPr>
            <a:r>
              <a:rPr lang="en-US" sz="2800" dirty="0"/>
              <a:t>What is entity integrity?</a:t>
            </a:r>
          </a:p>
          <a:p>
            <a:pPr>
              <a:defRPr sz="2000"/>
            </a:pPr>
            <a:r>
              <a:rPr lang="en-US" sz="2800" dirty="0"/>
              <a:t>Why is referential integrity important?</a:t>
            </a:r>
          </a:p>
          <a:p>
            <a:pPr>
              <a:defRPr sz="2000"/>
            </a:pPr>
            <a:endParaRPr lang="en-MY" sz="2800" dirty="0"/>
          </a:p>
          <a:p>
            <a:pPr marL="0" indent="0">
              <a:buNone/>
              <a:defRPr sz="2000"/>
            </a:pPr>
            <a:endParaRPr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832A7B-17DE-A49A-0D98-B1726445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4BE87F-5B1E-B127-DCFD-1E4D48217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29</a:t>
            </a:fld>
            <a:endParaRPr lang="en-MY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EC0F348-2D30-7AC1-3CE0-4197AE988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392" y="3429000"/>
            <a:ext cx="3995252" cy="30066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51558A9-F831-677E-BB04-1C0F9AD97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817" y="3028051"/>
            <a:ext cx="3995252" cy="30066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CCD5C17-9FCF-9090-0510-5284D0FCF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73" y="2870567"/>
            <a:ext cx="2709212" cy="91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75014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 Slide Template DB">
  <a:themeElements>
    <a:clrScheme name="Custom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Slide Template DB</Template>
  <TotalTime>91</TotalTime>
  <Words>954</Words>
  <Application>Microsoft Office PowerPoint</Application>
  <PresentationFormat>On-screen Show (4:3)</PresentationFormat>
  <Paragraphs>151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Calibri</vt:lpstr>
      <vt:lpstr>Montserrat Semi</vt:lpstr>
      <vt:lpstr>Arial</vt:lpstr>
      <vt:lpstr>Aptos</vt:lpstr>
      <vt:lpstr>Lecture Slide Template DB</vt:lpstr>
      <vt:lpstr>PowerPoint Presentation</vt:lpstr>
      <vt:lpstr>LECTURE LEARNING OUTCOME</vt:lpstr>
      <vt:lpstr>WHAT IS A DATABASE ?</vt:lpstr>
      <vt:lpstr>DATABASE </vt:lpstr>
      <vt:lpstr>IMPORTANT OF DATABASES</vt:lpstr>
      <vt:lpstr>DATABASE APPLICATIONS</vt:lpstr>
      <vt:lpstr>TYPES OF DATA</vt:lpstr>
      <vt:lpstr>DATABASE EVOLUTION</vt:lpstr>
      <vt:lpstr>RELATIONAL DATABASES</vt:lpstr>
      <vt:lpstr>ADVANTAGES OF RELATIONAL DATABASES</vt:lpstr>
      <vt:lpstr>NON-RELATIONAL DATABASES</vt:lpstr>
      <vt:lpstr>ADVANTAGES OF NON-RELATIONAL DATABASES</vt:lpstr>
      <vt:lpstr>RELATIONAL vs. NON-RELATIONAL COMPARISON</vt:lpstr>
      <vt:lpstr>OVERVIEW OF DATABASE SYSTEM</vt:lpstr>
      <vt:lpstr>DATABASE MANAGEMENT SYSTEM (DBMS)</vt:lpstr>
      <vt:lpstr>COMPONENTS OF DBMS  ENVIRONMENT </vt:lpstr>
      <vt:lpstr>TYPES OF DBMS</vt:lpstr>
      <vt:lpstr>USERS OF DBMS</vt:lpstr>
      <vt:lpstr>DATA INTEGRITY </vt:lpstr>
      <vt:lpstr>DATA INTEGRITY</vt:lpstr>
      <vt:lpstr>ENTITY INTEGRITY</vt:lpstr>
      <vt:lpstr>Primary Key</vt:lpstr>
      <vt:lpstr>REFERENTIAL INTEGRITY</vt:lpstr>
      <vt:lpstr>DOMAIN INTEGRITY</vt:lpstr>
      <vt:lpstr>CHALLENGES IN DATABASE MANAGEMENT</vt:lpstr>
      <vt:lpstr>MODERN DATABASE TRENDS</vt:lpstr>
      <vt:lpstr>SUMMARY</vt:lpstr>
      <vt:lpstr>EXERCISE 1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</dc:title>
  <dc:creator>acidfed</dc:creator>
  <cp:lastModifiedBy>ROZILAWATI BINTI DOLLAH @ MD. ZAIN</cp:lastModifiedBy>
  <cp:revision>16</cp:revision>
  <dcterms:created xsi:type="dcterms:W3CDTF">2019-01-07T08:53:00Z</dcterms:created>
  <dcterms:modified xsi:type="dcterms:W3CDTF">2025-10-04T01:32:36Z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
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315" r:id="rId2"/>
    <p:sldId id="316" r:id="rId3"/>
    <p:sldId id="427" r:id="rId4"/>
    <p:sldId id="428" r:id="rId5"/>
    <p:sldId id="429" r:id="rId6"/>
    <p:sldId id="430" r:id="rId7"/>
    <p:sldId id="431" r:id="rId8"/>
    <p:sldId id="426" r:id="rId9"/>
    <p:sldId id="422" r:id="rId10"/>
    <p:sldId id="423" r:id="rId11"/>
    <p:sldId id="424" r:id="rId12"/>
    <p:sldId id="263" r:id="rId13"/>
    <p:sldId id="421" r:id="rId14"/>
    <p:sldId id="347" r:id="rId15"/>
    <p:sldId id="348" r:id="rId16"/>
    <p:sldId id="349" r:id="rId17"/>
    <p:sldId id="350" r:id="rId18"/>
    <p:sldId id="419" r:id="rId19"/>
    <p:sldId id="432" r:id="rId20"/>
    <p:sldId id="433" r:id="rId21"/>
    <p:sldId id="434" r:id="rId22"/>
    <p:sldId id="435" r:id="rId23"/>
    <p:sldId id="436" r:id="rId24"/>
    <p:sldId id="351" r:id="rId25"/>
    <p:sldId id="359" r:id="rId26"/>
    <p:sldId id="360" r:id="rId27"/>
    <p:sldId id="361" r:id="rId28"/>
    <p:sldId id="420" r:id="rId29"/>
    <p:sldId id="441" r:id="rId30"/>
    <p:sldId id="437" r:id="rId31"/>
    <p:sldId id="438" r:id="rId32"/>
    <p:sldId id="439" r:id="rId33"/>
    <p:sldId id="440" r:id="rId34"/>
    <p:sldId id="415" r:id="rId35"/>
    <p:sldId id="417" r:id="rId36"/>
  </p:sldIdLst>
  <p:sldSz cx="9144000" cy="6858000" type="screen4x3"/>
  <p:notesSz cx="6858000" cy="9144000"/>
  <p:embeddedFontLst>
    <p:embeddedFont>
      <p:font typeface="Cascadia Code" panose="020B0609020000020004" pitchFamily="49" charset="0"/>
      <p:regular r:id="rId39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9" roundtripDataSignature="AMtx7mhEVrst4BOKj/vpGjIRIw10KX65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3CCBDD-E0BC-4259-A1C9-309ED4B31BAB}">
  <a:tblStyle styleId="{533CCBDD-E0BC-4259-A1C9-309ED4B31B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14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5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15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15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15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C27356-B77E-B3EA-4564-32D8B50BB0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2844C-24EE-E83F-D054-B6F2808426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CEA71-2553-45C1-9F9C-4DD7B686CF17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831AA-27A6-26B4-65E2-78CDB9500D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23EE7-132D-4103-82C7-18BB075F8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08974-8880-4108-9A0C-1414533471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9901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027" y="-211028"/>
            <a:ext cx="6880030" cy="7302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44320" y="1"/>
            <a:ext cx="9055360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825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25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/>
        </p:nvGrpSpPr>
        <p:grpSpPr>
          <a:xfrm>
            <a:off x="0" y="0"/>
            <a:ext cx="3242592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594748" y="-1062392"/>
            <a:ext cx="180381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832572" y="2842942"/>
            <a:ext cx="7046892" cy="136101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12409" y="3743463"/>
            <a:ext cx="1560526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320140" y="6145600"/>
            <a:ext cx="419100" cy="5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4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5334000" y="-35081"/>
            <a:ext cx="368808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8451197" y="349094"/>
            <a:ext cx="1507527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4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/>
        </p:nvSpPr>
        <p:spPr>
          <a:xfrm>
            <a:off x="0" y="-2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1157288" y="-1157288"/>
            <a:ext cx="6858000" cy="91725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2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47752"/>
            <a:ext cx="7886700" cy="1500187"/>
          </a:xfrm>
        </p:spPr>
        <p:txBody>
          <a:bodyPr anchor="t"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814638"/>
            <a:ext cx="7886700" cy="33575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0393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381125"/>
          </a:xfrm>
        </p:spPr>
        <p:txBody>
          <a:bodyPr anchor="t">
            <a:normAutofit/>
          </a:bodyPr>
          <a:lstStyle>
            <a:lvl1pPr algn="l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601119"/>
            <a:ext cx="6858000" cy="3461751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/>
        </p:nvGrpSpPr>
        <p:grpSpPr>
          <a:xfrm>
            <a:off x="0" y="336866"/>
            <a:ext cx="62865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433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689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074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70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1" y="2766219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01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3534946" y="1270"/>
            <a:ext cx="5334040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828977" cy="1600200"/>
          </a:xfrm>
        </p:spPr>
        <p:txBody>
          <a:bodyPr anchor="b">
            <a:normAutofit/>
          </a:bodyPr>
          <a:lstStyle>
            <a:lvl1pPr>
              <a:defRPr sz="21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8289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849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038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/>
        </p:nvSpPr>
        <p:spPr>
          <a:xfrm>
            <a:off x="-28575" y="0"/>
            <a:ext cx="9172575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/>
        </p:nvGrpSpPr>
        <p:grpSpPr>
          <a:xfrm>
            <a:off x="5385090" y="6473575"/>
            <a:ext cx="375891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165" y="283590"/>
            <a:ext cx="1103119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/>
        </p:nvGrpSpPr>
        <p:grpSpPr>
          <a:xfrm>
            <a:off x="-44162" y="0"/>
            <a:ext cx="1598115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16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05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44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/>
        </p:nvCxnSpPr>
        <p:spPr>
          <a:xfrm>
            <a:off x="-9525" y="10160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89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879042" y="3216670"/>
            <a:ext cx="5034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TOPIC 3 – ADVANCED SQL OPERATIONS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40677" y="2501089"/>
            <a:ext cx="880235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50" b="1" kern="0" dirty="0">
                <a:solidFill>
                  <a:srgbClr val="6C1D35"/>
                </a:solidFill>
              </a:rPr>
              <a:t>SECP3623 DATABASE PROGRAMMING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62" y="1306887"/>
            <a:ext cx="1687055" cy="56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280" y="983032"/>
            <a:ext cx="6858000" cy="61499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LECTURE LEARNING OUTCOME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01ED7-6AF8-9C63-4D92-82D004901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287464"/>
            <a:ext cx="7330440" cy="346175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Write DML statements to filter records in tables: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Logical operators : </a:t>
            </a:r>
            <a:r>
              <a:rPr lang="en-US" sz="2000" b="1" dirty="0"/>
              <a:t>AND, OR, NOT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Comparison operators: </a:t>
            </a:r>
            <a:r>
              <a:rPr lang="en-US" sz="2000" b="1" dirty="0"/>
              <a:t>=, !=, &lt;, &gt;, &lt;=, &gt;=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RANGE, BETWEEN, NULL, DISTINCT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Number functions : </a:t>
            </a:r>
            <a:r>
              <a:rPr lang="en-US" sz="2000" b="1" dirty="0"/>
              <a:t>ROUND, TRUNCATE, MOD 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String functions: </a:t>
            </a:r>
            <a:r>
              <a:rPr lang="en-US" sz="2000" b="1" dirty="0"/>
              <a:t>UPPER, LOWER, CONCAT, SUBSTR, LENGTH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Aggregate functions : </a:t>
            </a:r>
            <a:r>
              <a:rPr lang="en-US" sz="2000" b="1" dirty="0"/>
              <a:t>COUNT, MAX, MIN, AVG, SUM</a:t>
            </a:r>
          </a:p>
          <a:p>
            <a:pPr marL="6286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Conditional Logic: </a:t>
            </a:r>
            <a:r>
              <a:rPr lang="en-US" sz="2000" b="1" dirty="0"/>
              <a:t>CASE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596034" y="1825799"/>
            <a:ext cx="7877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/>
              <a:t>By the end of this lecture, students should be able to:</a:t>
            </a:r>
            <a:endParaRPr lang="en-MY" sz="2400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627459" y="3130231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A152B-0A88-D956-85D9-1AB520BFF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999EA-D216-A7D3-6F70-447272F2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A191-02E3-EA24-7CCE-5215EFA7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424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IS FILTERING?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C0F41-9E8E-92DB-D712-658BFE345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61457"/>
            <a:ext cx="7886700" cy="1164772"/>
          </a:xfrm>
        </p:spPr>
        <p:txBody>
          <a:bodyPr/>
          <a:lstStyle/>
          <a:p>
            <a:r>
              <a:rPr lang="en-US" dirty="0"/>
              <a:t>Filtering in SQL is used to retrieve specific rows that meet certain </a:t>
            </a:r>
            <a:r>
              <a:rPr lang="en-US" b="1" dirty="0"/>
              <a:t>conditions</a:t>
            </a:r>
            <a:r>
              <a:rPr lang="en-US" dirty="0"/>
              <a:t> using the WHERE clause. </a:t>
            </a:r>
          </a:p>
          <a:p>
            <a:r>
              <a:rPr lang="en-US" dirty="0"/>
              <a:t>It helps limit query results to only the relevant data.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F4702-17A9-A64D-93CF-F21EC7F4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CDB584-A7B1-F2DD-1CB5-F744CA6A6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54" y="3207883"/>
            <a:ext cx="4420960" cy="17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5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47B05-07E2-D4AD-2B1E-0787C11A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EEDD-8FB3-7AC9-3947-0306C816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LOGICAL OPERATORS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13ECE-741D-4903-45B3-A5B1A8979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01" y="2186609"/>
            <a:ext cx="8739597" cy="3342894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1206B-45D4-A5B6-BC4C-4D31AB3B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38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E64D1-141E-1E78-8515-119A0B1B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F082-1CD9-6102-F71C-E480F1EE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424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COMPARISON OPERATORS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53FB1-02A9-4BC3-065C-1BDEFB70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9A5FF-1481-D9CC-787F-F16639F03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91" y="1679803"/>
            <a:ext cx="8126817" cy="410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5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7CAA1-B6F3-DD34-C25F-E135D0F9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B042-994F-B2A1-5CAE-C74E8CEB2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RANGE &amp; BETWEEN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291D4-9C73-455E-DE54-5CBA04D6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6" y="1999535"/>
            <a:ext cx="8577042" cy="310917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BCF66-9B86-9639-CB20-F0D88119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1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1B39-BA37-0B63-F129-9A80AE497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6B2C-45FC-D476-ADB7-174E2C97E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424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NULL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344D-DC06-1FF6-21C5-9BAC8231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564367"/>
            <a:ext cx="7886700" cy="776061"/>
          </a:xfrm>
        </p:spPr>
        <p:txBody>
          <a:bodyPr/>
          <a:lstStyle/>
          <a:p>
            <a:r>
              <a:rPr lang="en-US" dirty="0"/>
              <a:t>NULL means </a:t>
            </a:r>
            <a:r>
              <a:rPr lang="en-US" b="1" dirty="0"/>
              <a:t>no value or unknown</a:t>
            </a:r>
            <a:r>
              <a:rPr lang="en-US" dirty="0"/>
              <a:t>.</a:t>
            </a:r>
          </a:p>
          <a:p>
            <a:r>
              <a:rPr lang="en-US" dirty="0"/>
              <a:t>Use IS NULL or IS NOT NULL to test for missing data:</a:t>
            </a:r>
          </a:p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EE8A1-A5A5-BEE9-068D-1A43EC38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4721BD-43E6-A314-CEBD-EB08DDE9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047" y="2340428"/>
            <a:ext cx="5768068" cy="36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64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B3ED7-6891-2B02-7C5A-7D054F63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1935-8E67-BA8A-FD3C-EC9D0526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RULES OF PRECEDENCE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A67187C-5848-5CC5-CF07-E64B45764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90186"/>
            <a:ext cx="7886700" cy="4022216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7EAC5-E911-0906-EC24-08738CF4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48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3A85-854D-B525-6B39-1F427437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6ADDD-6CFE-815A-69FC-7D31E4917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RULES OF PRECEDENCE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60C945-F707-942A-14D0-4B1D5DF8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0" y="1850069"/>
            <a:ext cx="8486779" cy="407365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505BD-8E21-9045-8E1E-10ACEE56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2B71-09D3-DC51-5929-3A6FFA94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E263-8EE2-3D26-E228-E5B70BD8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DISTINCT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6AE14-8973-7FC5-6BB5-BFD67611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0C6B3-EE5D-42C2-DDE2-6A4CE188D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053"/>
            <a:ext cx="9144000" cy="411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11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6C40-BB00-6DE9-82D8-E62DE3D1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5CA9-32B3-68AB-330A-CACE838A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DISTINCT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49322-B402-9921-7660-07E1052BC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21176"/>
            <a:ext cx="7886700" cy="416023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1F1FC-85A4-F422-E023-0F110519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90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INSERTING ROWS WITH NULL VALUES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Implicit method: Omit the column from the column list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Explicit method: Specify the NULL keyword in the VALUES clause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57" name="Google Shape;157;p8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1-Oct-19</a:t>
            </a:r>
            <a:endParaRPr/>
          </a:p>
        </p:txBody>
      </p:sp>
      <p:sp>
        <p:nvSpPr>
          <p:cNvPr id="158" name="Google Shape;158;p8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59" name="Google Shape;159;p8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SCSD2523 Database - SQL DML Part I 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14350" y="2246350"/>
            <a:ext cx="8001000" cy="998537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departments </a:t>
            </a:r>
            <a:r>
              <a:rPr lang="en-US" sz="1800">
                <a:solidFill>
                  <a:srgbClr val="E2A22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department_id, department_name</a:t>
            </a:r>
            <a:r>
              <a:rPr lang="en-US" sz="1800">
                <a:solidFill>
                  <a:srgbClr val="E2A22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VALUES </a:t>
            </a:r>
            <a:r>
              <a:rPr lang="en-US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30, ‘Purchasing’</a:t>
            </a:r>
            <a:r>
              <a:rPr lang="en-US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14350" y="4328338"/>
            <a:ext cx="8001000" cy="998537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departments </a:t>
            </a:r>
            <a:r>
              <a:rPr lang="en-US" sz="1800">
                <a:solidFill>
                  <a:srgbClr val="E2A22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department_id, department_name</a:t>
            </a:r>
            <a:r>
              <a:rPr lang="en-US" sz="1800">
                <a:solidFill>
                  <a:srgbClr val="E2A22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VALUES </a:t>
            </a:r>
            <a:r>
              <a:rPr lang="en-US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30, ‘Purchasing’, NULL, NULL</a:t>
            </a:r>
            <a:r>
              <a:rPr lang="en-US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62" name="Google Shape;162;p8"/>
          <p:cNvGraphicFramePr/>
          <p:nvPr/>
        </p:nvGraphicFramePr>
        <p:xfrm>
          <a:off x="571500" y="5489487"/>
          <a:ext cx="7886700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department_id</a:t>
                      </a:r>
                      <a:endParaRPr sz="1800" b="1"/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department_name</a:t>
                      </a:r>
                      <a:endParaRPr sz="1800" b="1"/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manager_id</a:t>
                      </a:r>
                      <a:endParaRPr sz="1800" b="1"/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location_id</a:t>
                      </a:r>
                      <a:endParaRPr sz="1800" b="1"/>
                    </a:p>
                  </a:txBody>
                  <a:tcPr marL="91450" marR="91450" marT="45725" marB="45725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Purchasing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66C5-ADAE-A8AB-6330-B3C473EB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5C865-900A-6C42-CE10-469C07706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324" y="354240"/>
            <a:ext cx="5993214" cy="83925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NOT OPERATOR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7B4E5-8D4E-7051-DD4A-407281C6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38B4C1-0F63-DD1B-5795-5779FE459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4" y="1969713"/>
            <a:ext cx="4671816" cy="3694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47ACAA-723E-5C5D-72BF-44B6F872C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276" y="1149790"/>
            <a:ext cx="4015724" cy="525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73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2E43-80A4-477D-ACEF-6DD9CEC7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NUMERIC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B2BB4-26E9-44E6-A0D4-1CA98B7AA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830E3E"/>
                </a:solidFill>
              </a:rPr>
              <a:t>ROUND</a:t>
            </a:r>
            <a:r>
              <a:rPr lang="en-US" dirty="0"/>
              <a:t>: Rounds value to specified decimal</a:t>
            </a:r>
          </a:p>
          <a:p>
            <a:r>
              <a:rPr lang="en-US" b="1" dirty="0">
                <a:solidFill>
                  <a:srgbClr val="830E3E"/>
                </a:solidFill>
              </a:rPr>
              <a:t>TRUNCATE</a:t>
            </a:r>
            <a:r>
              <a:rPr lang="en-US" dirty="0"/>
              <a:t>: Truncates value to specified decimal</a:t>
            </a:r>
          </a:p>
          <a:p>
            <a:r>
              <a:rPr lang="en-US" b="1" dirty="0">
                <a:solidFill>
                  <a:srgbClr val="830E3E"/>
                </a:solidFill>
              </a:rPr>
              <a:t>MOD</a:t>
            </a:r>
            <a:r>
              <a:rPr lang="en-US" dirty="0"/>
              <a:t>: Returns remainder of division (modulus)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293B-512B-465B-B2DF-2BCFD230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36B6ED-9AD3-4B71-9106-8266285CAC6C}" type="datetime5">
              <a:rPr lang="en-US" smtClean="0"/>
              <a:t>13-Oct-25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971DD-622A-424D-AD5E-A0C49D03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C10FF9-B577-4816-8DCE-56B97B4EF2A6}"/>
              </a:ext>
            </a:extLst>
          </p:cNvPr>
          <p:cNvGraphicFramePr>
            <a:graphicFrameLocks noGrp="1"/>
          </p:cNvGraphicFramePr>
          <p:nvPr/>
        </p:nvGraphicFramePr>
        <p:xfrm>
          <a:off x="1162050" y="3073400"/>
          <a:ext cx="6967342" cy="3048000"/>
        </p:xfrm>
        <a:graphic>
          <a:graphicData uri="http://schemas.openxmlformats.org/drawingml/2006/table">
            <a:tbl>
              <a:tblPr/>
              <a:tblGrid>
                <a:gridCol w="5451692">
                  <a:extLst>
                    <a:ext uri="{9D8B030D-6E8A-4147-A177-3AD203B41FA5}">
                      <a16:colId xmlns:a16="http://schemas.microsoft.com/office/drawing/2014/main" val="1809980602"/>
                    </a:ext>
                  </a:extLst>
                </a:gridCol>
                <a:gridCol w="1515650">
                  <a:extLst>
                    <a:ext uri="{9D8B030D-6E8A-4147-A177-3AD203B41FA5}">
                      <a16:colId xmlns:a16="http://schemas.microsoft.com/office/drawing/2014/main" val="1379419685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323189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ROUND(45.926, 2)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the value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number of decimal places to round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45.93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83438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TRUNC(45.926, 2)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the value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MY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kumimoji="0" lang="en-MY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parameter: number of decimal places to truncate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45.92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6250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MOD(1600, 300)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9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90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28DA-A33C-48CC-BB42-47376C6A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USING TRUNC (Oracle) / TRUNCATE (MySQL)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BAD1-F3F3-48B2-8A3F-8B470F8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using </a:t>
            </a:r>
            <a:r>
              <a:rPr lang="en-US" b="1" dirty="0">
                <a:solidFill>
                  <a:srgbClr val="830E3E"/>
                </a:solidFill>
              </a:rPr>
              <a:t>TRUNC/TRUNCATE</a:t>
            </a:r>
            <a:r>
              <a:rPr lang="en-US" dirty="0"/>
              <a:t>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F17E-ABFF-46E1-B87B-4480B7EC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792880-B57E-440D-B9A8-83F0770B7B62}" type="datetime5">
              <a:rPr lang="en-US" smtClean="0"/>
              <a:t>13-Oct-25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FFDFC-3862-4A85-9272-83A389F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3FD1D4-6838-445A-8417-B213C68CCD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332"/>
          <a:stretch/>
        </p:blipFill>
        <p:spPr>
          <a:xfrm>
            <a:off x="6580290" y="1732560"/>
            <a:ext cx="1667599" cy="1992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37F63B-A02F-45B8-A6DB-3D5468EF1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404"/>
          <a:stretch/>
        </p:blipFill>
        <p:spPr>
          <a:xfrm>
            <a:off x="6658607" y="4369579"/>
            <a:ext cx="1510967" cy="19058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9B8387-4320-409C-BB06-6F087680D1BD}"/>
              </a:ext>
            </a:extLst>
          </p:cNvPr>
          <p:cNvSpPr txBox="1"/>
          <p:nvPr/>
        </p:nvSpPr>
        <p:spPr>
          <a:xfrm>
            <a:off x="6807128" y="1350316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 </a:t>
            </a:r>
            <a:r>
              <a:rPr lang="en-MY" b="1" dirty="0">
                <a:solidFill>
                  <a:srgbClr val="830E3E"/>
                </a:solidFill>
              </a:rPr>
              <a:t>TRUNC</a:t>
            </a:r>
            <a:endParaRPr lang="en-US" b="1" dirty="0">
              <a:solidFill>
                <a:srgbClr val="830E3E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12FA7-15EB-4A4A-8A7B-FFD686BD6C42}"/>
              </a:ext>
            </a:extLst>
          </p:cNvPr>
          <p:cNvSpPr txBox="1"/>
          <p:nvPr/>
        </p:nvSpPr>
        <p:spPr>
          <a:xfrm>
            <a:off x="6738327" y="3911600"/>
            <a:ext cx="1351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 data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D5EAC-6BC5-4177-888E-FE3804F3B829}"/>
              </a:ext>
            </a:extLst>
          </p:cNvPr>
          <p:cNvSpPr/>
          <p:nvPr/>
        </p:nvSpPr>
        <p:spPr>
          <a:xfrm>
            <a:off x="928577" y="2228671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TRUNC</a:t>
            </a:r>
            <a:r>
              <a:rPr lang="en-US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endParaRPr lang="en-US" dirty="0">
              <a:solidFill>
                <a:schemeClr val="bg1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91844-264B-4F98-955C-9035EF2FF081}"/>
              </a:ext>
            </a:extLst>
          </p:cNvPr>
          <p:cNvSpPr/>
          <p:nvPr/>
        </p:nvSpPr>
        <p:spPr>
          <a:xfrm>
            <a:off x="928577" y="4611597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endParaRPr lang="en-US" dirty="0">
              <a:solidFill>
                <a:schemeClr val="bg1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D12B4-5BC4-452A-83C3-3D18CE9A1E59}"/>
              </a:ext>
            </a:extLst>
          </p:cNvPr>
          <p:cNvSpPr txBox="1"/>
          <p:nvPr/>
        </p:nvSpPr>
        <p:spPr>
          <a:xfrm>
            <a:off x="766622" y="4242265"/>
            <a:ext cx="3437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Display normally without truncate: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41B084-854C-4483-87D9-53F3B1D5D041}"/>
              </a:ext>
            </a:extLst>
          </p:cNvPr>
          <p:cNvSpPr/>
          <p:nvPr/>
        </p:nvSpPr>
        <p:spPr>
          <a:xfrm>
            <a:off x="2589457" y="3477651"/>
            <a:ext cx="3349805" cy="533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</a:t>
            </a:r>
            <a:r>
              <a:rPr lang="en-MY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TRUNCATE</a:t>
            </a:r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MySQL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018F56B-4D88-4CBD-9B43-D566060AD8F9}"/>
              </a:ext>
            </a:extLst>
          </p:cNvPr>
          <p:cNvSpPr/>
          <p:nvPr/>
        </p:nvSpPr>
        <p:spPr>
          <a:xfrm>
            <a:off x="6062133" y="2653192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F8A6239-231D-46D7-A4F7-E4EDE424D5E3}"/>
              </a:ext>
            </a:extLst>
          </p:cNvPr>
          <p:cNvSpPr/>
          <p:nvPr/>
        </p:nvSpPr>
        <p:spPr>
          <a:xfrm>
            <a:off x="6059227" y="5018193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829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28DA-A33C-48CC-BB42-47376C6A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22700"/>
          </a:xfrm>
        </p:spPr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USING 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BAD1-F3F3-48B2-8A3F-8B470F8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Example of using </a:t>
            </a:r>
            <a:r>
              <a:rPr lang="en-MY" b="1" dirty="0">
                <a:solidFill>
                  <a:srgbClr val="830E3E"/>
                </a:solidFill>
              </a:rPr>
              <a:t>ROUND</a:t>
            </a:r>
            <a:r>
              <a:rPr lang="en-MY" dirty="0"/>
              <a:t>: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F17E-ABFF-46E1-B87B-4480B7EC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87E42C-C534-41BD-AAAE-DB098D4151CC}" type="datetime5">
              <a:rPr lang="en-US" smtClean="0"/>
              <a:t>13-Oct-25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FFDFC-3862-4A85-9272-83A389F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D5EAC-6BC5-4177-888E-FE3804F3B829}"/>
              </a:ext>
            </a:extLst>
          </p:cNvPr>
          <p:cNvSpPr/>
          <p:nvPr/>
        </p:nvSpPr>
        <p:spPr>
          <a:xfrm>
            <a:off x="928577" y="2228671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ROUND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91844-264B-4F98-955C-9035EF2FF081}"/>
              </a:ext>
            </a:extLst>
          </p:cNvPr>
          <p:cNvSpPr/>
          <p:nvPr/>
        </p:nvSpPr>
        <p:spPr>
          <a:xfrm>
            <a:off x="928577" y="4611597"/>
            <a:ext cx="4968695" cy="1200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D12B4-5BC4-452A-83C3-3D18CE9A1E59}"/>
              </a:ext>
            </a:extLst>
          </p:cNvPr>
          <p:cNvSpPr txBox="1"/>
          <p:nvPr/>
        </p:nvSpPr>
        <p:spPr>
          <a:xfrm>
            <a:off x="766622" y="4242265"/>
            <a:ext cx="335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Display normally without ROUND:</a:t>
            </a:r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018F56B-4D88-4CBD-9B43-D566060AD8F9}"/>
              </a:ext>
            </a:extLst>
          </p:cNvPr>
          <p:cNvSpPr/>
          <p:nvPr/>
        </p:nvSpPr>
        <p:spPr>
          <a:xfrm>
            <a:off x="6062133" y="2653192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F8A6239-231D-46D7-A4F7-E4EDE424D5E3}"/>
              </a:ext>
            </a:extLst>
          </p:cNvPr>
          <p:cNvSpPr/>
          <p:nvPr/>
        </p:nvSpPr>
        <p:spPr>
          <a:xfrm>
            <a:off x="6059227" y="5018193"/>
            <a:ext cx="395111" cy="3871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D8D5921-2CAA-4F01-A606-B63D9A5192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810"/>
          <a:stretch/>
        </p:blipFill>
        <p:spPr>
          <a:xfrm>
            <a:off x="6566646" y="4131854"/>
            <a:ext cx="1948704" cy="226133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C35E0A4-FAF2-4526-B6BF-88BAB42ADE4F}"/>
              </a:ext>
            </a:extLst>
          </p:cNvPr>
          <p:cNvSpPr txBox="1"/>
          <p:nvPr/>
        </p:nvSpPr>
        <p:spPr>
          <a:xfrm>
            <a:off x="6466562" y="983624"/>
            <a:ext cx="14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 </a:t>
            </a:r>
            <a:r>
              <a:rPr lang="en-MY" b="1" dirty="0">
                <a:solidFill>
                  <a:srgbClr val="830E3E"/>
                </a:solidFill>
              </a:rPr>
              <a:t>ROUND</a:t>
            </a:r>
            <a:endParaRPr lang="en-US" b="1" dirty="0">
              <a:solidFill>
                <a:srgbClr val="830E3E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AFAF30-BCA0-4955-A167-2F821D9F6863}"/>
              </a:ext>
            </a:extLst>
          </p:cNvPr>
          <p:cNvSpPr txBox="1"/>
          <p:nvPr/>
        </p:nvSpPr>
        <p:spPr>
          <a:xfrm>
            <a:off x="6466562" y="3739172"/>
            <a:ext cx="140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Normal data 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858CDF-F642-4C26-B890-23FA854C7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46" y="1409417"/>
            <a:ext cx="1762371" cy="230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58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DEE4-7F44-44DD-B9D0-73B948055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365126"/>
            <a:ext cx="841375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COMPARE ROUND, TRUNCATE &amp; NORMAL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67F17-D251-43A8-976B-7386FC18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 the SQL statement below to see the difference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BE28C-A3E3-4567-AD28-4D64788D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E687B5-40FE-46D4-ACF8-2C8891D8D2CF}" type="datetime5">
              <a:rPr lang="en-US" smtClean="0"/>
              <a:t>13-Oct-25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18D2E-F503-44E7-BE46-38033408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84CC5-F668-4219-822C-6CC1F1BDE3E0}"/>
              </a:ext>
            </a:extLst>
          </p:cNvPr>
          <p:cNvSpPr/>
          <p:nvPr/>
        </p:nvSpPr>
        <p:spPr>
          <a:xfrm>
            <a:off x="628650" y="2179458"/>
            <a:ext cx="8220882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TRUNCATE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ROUND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commission_pct, 1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, commission_pct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commission_pct 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IS NOT NULL;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AA3FF5-7AED-43FF-81EA-5303510D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2" y="3575188"/>
            <a:ext cx="4993686" cy="262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4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8124-CC59-BA17-FD6D-FE2D3B35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05933-51E2-A964-2ACB-1D74F37D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ARE STRING FUNCTIONS?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7FB7-5D32-8032-5F02-1F270E306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63386"/>
            <a:ext cx="8180070" cy="1440089"/>
          </a:xfrm>
        </p:spPr>
        <p:txBody>
          <a:bodyPr>
            <a:noAutofit/>
          </a:bodyPr>
          <a:lstStyle/>
          <a:p>
            <a:r>
              <a:rPr lang="en-US" sz="2400" dirty="0"/>
              <a:t>String functions are used in SQL to </a:t>
            </a:r>
            <a:r>
              <a:rPr lang="en-US" sz="2400" b="1" dirty="0"/>
              <a:t>manipulate and transform text data</a:t>
            </a:r>
            <a:r>
              <a:rPr lang="en-US" sz="2400" dirty="0"/>
              <a:t>. </a:t>
            </a:r>
          </a:p>
          <a:p>
            <a:r>
              <a:rPr lang="en-US" sz="2400" dirty="0"/>
              <a:t>These functions help clean, format, and extract specific information from string fields.</a:t>
            </a:r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0088A-17C9-715F-7030-BB22429C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2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62D69-65FB-D826-71E6-938DC470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328D-EFAE-F98D-FCDB-75889E93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UPPER()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6B677-750C-FC21-FD92-80E11D0B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8F6AB8-2534-01CB-4903-D9296D94F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01" y="1690689"/>
            <a:ext cx="7661798" cy="164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68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CE236-5F3F-192E-388B-60EDBFB2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2B81-241C-1074-4988-055A72EC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LOWER()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9488D-7902-D961-82E8-1F4AAD94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B9DA03-1C90-0B1B-C042-B63E48EE5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44" y="1778635"/>
            <a:ext cx="7991253" cy="1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17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9701F-19AD-9300-FA5C-09CA75E5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931C-4F0C-E3EF-7E1E-D30BFAAC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CONCAT()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D03D5-633C-CBCF-510A-73127255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777F1-A330-EABA-D2E2-A11223D93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9"/>
            <a:ext cx="9022946" cy="148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95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3E79-099C-579A-4EE4-23B145BC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E357-E307-2C29-896F-36D947B3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SUBSTR()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AA23-F6B1-521D-D7A5-4EAE2A3C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983B9-947E-37C6-9261-E9EF1214D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37" y="1492886"/>
            <a:ext cx="7698125" cy="175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28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356D-6246-9BEF-BB46-5F65CFD9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6F7F-559F-EF1C-53FB-E24CF932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LENGTH() FUNCTION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537A8-B5B7-5C93-9087-F00FC650A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57348-092E-9BF0-30D7-3FBB759C0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03" y="1737362"/>
            <a:ext cx="7236532" cy="185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4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658EB-0C9B-4DCF-9E69-E65C3D40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AGGREGATE FUNCTIONS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16DCD-CF5C-43F1-90EC-36265BE1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681095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Sometimes referred to as Group Functions </a:t>
            </a:r>
          </a:p>
          <a:p>
            <a:r>
              <a:rPr lang="en-US" sz="2800" dirty="0"/>
              <a:t>Can be used only in the SELECT and HAVING clause</a:t>
            </a:r>
          </a:p>
          <a:p>
            <a:r>
              <a:rPr lang="en-US" sz="2800" dirty="0"/>
              <a:t>Operate on sets of rows to give one result per group</a:t>
            </a:r>
          </a:p>
          <a:p>
            <a:pPr lvl="1"/>
            <a:r>
              <a:rPr lang="en-US" sz="2400" dirty="0"/>
              <a:t>For numeric data: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AVG</a:t>
            </a:r>
            <a:r>
              <a:rPr lang="en-US" sz="1800" dirty="0"/>
              <a:t> 	- returns average of values in a column **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SUM</a:t>
            </a:r>
            <a:r>
              <a:rPr lang="en-US" sz="1800" dirty="0"/>
              <a:t> 	- returns the sum of values in a column **</a:t>
            </a:r>
          </a:p>
          <a:p>
            <a:pPr lvl="1"/>
            <a:r>
              <a:rPr lang="en-US" sz="2400" dirty="0"/>
              <a:t>For numeric, character &amp; date data types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MAX</a:t>
            </a:r>
            <a:r>
              <a:rPr lang="en-US" sz="1800" dirty="0"/>
              <a:t> 	- returns the largest value of values in a column **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MIN</a:t>
            </a:r>
            <a:r>
              <a:rPr lang="en-US" sz="1800" dirty="0"/>
              <a:t> 	- returns the smallest value of values in a column **</a:t>
            </a:r>
          </a:p>
          <a:p>
            <a:pPr lvl="2"/>
            <a:r>
              <a:rPr lang="en-US" sz="1800" b="1" dirty="0">
                <a:solidFill>
                  <a:srgbClr val="4472C4"/>
                </a:solidFill>
              </a:rPr>
              <a:t>COUNT</a:t>
            </a:r>
            <a:r>
              <a:rPr lang="en-US" sz="1800" dirty="0"/>
              <a:t>  - returns number of rows  </a:t>
            </a:r>
          </a:p>
          <a:p>
            <a:pPr marL="457200" lvl="1" indent="0">
              <a:buNone/>
            </a:pPr>
            <a:r>
              <a:rPr lang="en-US" sz="2400" i="1" dirty="0">
                <a:solidFill>
                  <a:srgbClr val="4472C4"/>
                </a:solidFill>
              </a:rPr>
              <a:t>** - Ignoring NULL values</a:t>
            </a:r>
          </a:p>
          <a:p>
            <a:endParaRPr lang="en-MY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8B6CD-0AB4-4156-A8D4-8290B20D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09504F-4C29-4EF5-A732-BD2C7313BB19}" type="datetime5">
              <a:rPr lang="en-US" smtClean="0"/>
              <a:t>13-Oct-25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42F18-5204-4DEF-8282-CEAF6467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74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A248-FE41-4E08-B55B-47039116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741F-AC47-4B44-B5CA-4A76C1A7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latin typeface="Cascadia Code" panose="020B0509020204030204" pitchFamily="49" charset="0"/>
              </a:rPr>
              <a:t>(column)</a:t>
            </a:r>
          </a:p>
          <a:p>
            <a:pPr lvl="1"/>
            <a:r>
              <a:rPr lang="en-US" dirty="0"/>
              <a:t>Returns the number of rows with non-null values for the column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total number of employees who receive commissions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651E-7E0C-4D6B-90D0-E39781FE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9EA42E-E619-4362-8E3C-4BFDE41CC807}" type="datetime5">
              <a:rPr lang="en-US" smtClean="0"/>
              <a:t>13-Oct-25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B94E8-B1F9-4DDA-861C-3D402397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03AB8-A1EA-4716-8372-3F66B7CE68B2}"/>
              </a:ext>
            </a:extLst>
          </p:cNvPr>
          <p:cNvSpPr/>
          <p:nvPr/>
        </p:nvSpPr>
        <p:spPr>
          <a:xfrm>
            <a:off x="1310955" y="3429000"/>
            <a:ext cx="652209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commission_pct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 FROM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employees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;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28A51F5D-4D0D-493C-9CAB-BFB98E863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2" y="3970853"/>
            <a:ext cx="5210175" cy="203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907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A248-FE41-4E08-B55B-47039116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AGGREGATE FUNCTIONS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741F-AC47-4B44-B5CA-4A76C1A7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Cascadia Code" panose="020B0509020204030204" pitchFamily="49" charset="0"/>
              </a:rPr>
              <a:t>COUNT</a:t>
            </a:r>
            <a:r>
              <a:rPr lang="en-US" dirty="0">
                <a:latin typeface="Cascadia Code" panose="020B0509020204030204" pitchFamily="49" charset="0"/>
              </a:rPr>
              <a:t>(*)</a:t>
            </a:r>
          </a:p>
          <a:p>
            <a:pPr lvl="1"/>
            <a:r>
              <a:rPr lang="en-US" dirty="0"/>
              <a:t>Return number of records (rows) in the table</a:t>
            </a:r>
          </a:p>
          <a:p>
            <a:pPr lvl="1"/>
            <a:r>
              <a:rPr lang="en-US" dirty="0"/>
              <a:t>Includes duplicate rows and rows with NULL values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total number of employees in department number 10.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651E-7E0C-4D6B-90D0-E39781FE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A8180D-1A04-47B7-B0CF-040282822D70}" type="datetime5">
              <a:rPr lang="en-US" smtClean="0"/>
              <a:t>13-Oct-25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B94E8-B1F9-4DDA-861C-3D402397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03AB8-A1EA-4716-8372-3F66B7CE68B2}"/>
              </a:ext>
            </a:extLst>
          </p:cNvPr>
          <p:cNvSpPr/>
          <p:nvPr/>
        </p:nvSpPr>
        <p:spPr>
          <a:xfrm>
            <a:off x="1310954" y="3601521"/>
            <a:ext cx="6534824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COUNT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Cascadia Code" panose="020B0509020204030204" pitchFamily="49" charset="0"/>
              </a:rPr>
              <a:t>*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) AS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“No of Employees”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employees</a:t>
            </a:r>
            <a:endParaRPr lang="en-US" b="1" dirty="0">
              <a:solidFill>
                <a:srgbClr val="E2A22F"/>
              </a:solidFill>
              <a:latin typeface="Cascadia Code" panose="020B0509020204030204" pitchFamily="49" charset="0"/>
            </a:endParaRP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 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department_id = 10</a:t>
            </a:r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;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AC6BEF75-C813-4071-83DC-CF469E3F3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804" y="4704108"/>
            <a:ext cx="3592563" cy="1293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519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B466-78E1-4649-9CE9-3A08E707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600" b="1" dirty="0">
                <a:solidFill>
                  <a:schemeClr val="accent1"/>
                </a:solidFill>
              </a:rPr>
              <a:t>AGGREGATE FUNCTIONS</a:t>
            </a:r>
            <a:endParaRPr lang="en-MY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AD94-81B7-49B2-A591-DD1301BD9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the average, sum, minimum and maximum salary for employees in department number 80.</a:t>
            </a:r>
          </a:p>
          <a:p>
            <a:pPr lvl="2"/>
            <a:r>
              <a:rPr lang="en-US" dirty="0"/>
              <a:t>Department number 80 has 34 employees</a:t>
            </a:r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8B278-1C04-4618-BBEE-4E8E6380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D76B25-E8D4-4DFC-BC1F-ECB461FB3B0D}" type="datetime5">
              <a:rPr lang="en-US" smtClean="0"/>
              <a:t>13-Oct-25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51EC5-1E3B-4BBA-8D4B-9A1111A3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B7E1D-8CAA-4280-8515-F197260D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543" y="4529169"/>
            <a:ext cx="5858693" cy="12765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30653E-9F2A-4DC1-BB25-78F37E613620}"/>
              </a:ext>
            </a:extLst>
          </p:cNvPr>
          <p:cNvSpPr/>
          <p:nvPr/>
        </p:nvSpPr>
        <p:spPr>
          <a:xfrm>
            <a:off x="985701" y="3289927"/>
            <a:ext cx="7523323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AVG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MIN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MAX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(salary),</a:t>
            </a:r>
            <a:r>
              <a:rPr lang="en-US" b="1" dirty="0">
                <a:solidFill>
                  <a:srgbClr val="92D050"/>
                </a:solidFill>
                <a:latin typeface="Cascadia Code" panose="020B0509020204030204" pitchFamily="49" charset="0"/>
              </a:rPr>
              <a:t>SUM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(salary)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employees </a:t>
            </a:r>
          </a:p>
          <a:p>
            <a:pPr marL="0" lvl="1"/>
            <a:r>
              <a:rPr lang="en-US" b="1" dirty="0">
                <a:solidFill>
                  <a:srgbClr val="E2A22F"/>
                </a:solidFill>
                <a:latin typeface="Cascadia Code" panose="020B0509020204030204" pitchFamily="49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Cascadia Code" panose="020B0509020204030204" pitchFamily="49" charset="0"/>
              </a:rPr>
              <a:t> department_id=80;</a:t>
            </a:r>
          </a:p>
        </p:txBody>
      </p:sp>
    </p:spTree>
    <p:extLst>
      <p:ext uri="{BB962C8B-B14F-4D97-AF65-F5344CB8AC3E}">
        <p14:creationId xmlns:p14="http://schemas.microsoft.com/office/powerpoint/2010/main" val="1253747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DF63-44C5-3BCC-8901-37CE4469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AD3C-DE70-8ABC-9130-7F6F7EA2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79" y="343355"/>
            <a:ext cx="7886700" cy="81053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IS CONDITIONAL LOGIC (CASE)?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FA79-967B-3C6A-8501-23BDB0476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021" y="1153886"/>
            <a:ext cx="7886700" cy="2950028"/>
          </a:xfrm>
        </p:spPr>
        <p:txBody>
          <a:bodyPr>
            <a:normAutofit/>
          </a:bodyPr>
          <a:lstStyle/>
          <a:p>
            <a:r>
              <a:rPr lang="en-US" sz="2200" dirty="0"/>
              <a:t>The </a:t>
            </a:r>
            <a:r>
              <a:rPr lang="en-US" sz="2200" b="1" dirty="0"/>
              <a:t>CASE</a:t>
            </a:r>
            <a:r>
              <a:rPr lang="en-US" sz="2200" dirty="0"/>
              <a:t> statement is used to apply </a:t>
            </a:r>
            <a:r>
              <a:rPr lang="en-US" sz="2200" b="1" dirty="0"/>
              <a:t>conditional logic</a:t>
            </a:r>
            <a:r>
              <a:rPr lang="en-US" sz="2200" dirty="0"/>
              <a:t> in SQL queries.</a:t>
            </a:r>
          </a:p>
          <a:p>
            <a:r>
              <a:rPr lang="en-US" sz="2200" dirty="0"/>
              <a:t>It allows you to perform if-then-else operations directly within your SELECT, UPDATE, or ORDER BY clauses.</a:t>
            </a:r>
          </a:p>
          <a:p>
            <a:r>
              <a:rPr lang="en-US" sz="2200" b="1" dirty="0"/>
              <a:t>Purpose:</a:t>
            </a:r>
          </a:p>
          <a:p>
            <a:pPr lvl="1"/>
            <a:r>
              <a:rPr lang="en-US" sz="2200" dirty="0"/>
              <a:t>Add logic-based output to your results.</a:t>
            </a:r>
          </a:p>
          <a:p>
            <a:pPr lvl="1"/>
            <a:r>
              <a:rPr lang="en-US" sz="2200" dirty="0"/>
              <a:t>Replace numeric or coded data with readable text.</a:t>
            </a:r>
          </a:p>
          <a:p>
            <a:pPr lvl="1"/>
            <a:r>
              <a:rPr lang="en-US" sz="2200" dirty="0"/>
              <a:t>Categorize data dynamically.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8673A-8761-0F2A-2725-90639587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EAD0A-84AE-AFA1-D3DB-BF49B6A37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554" y="4112306"/>
            <a:ext cx="45529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152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0391-64A5-98D0-B54B-01511D4E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72E0A-CEB5-91B7-8D40-D4D6DE72B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79" y="343355"/>
            <a:ext cx="7886700" cy="81053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CONDITIONAL LOGIC (CASE)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B9E97-598D-3C37-1DAA-1D8ABABFD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021" y="1528445"/>
            <a:ext cx="7538358" cy="1330960"/>
          </a:xfrm>
        </p:spPr>
        <p:txBody>
          <a:bodyPr>
            <a:normAutofit/>
          </a:bodyPr>
          <a:lstStyle/>
          <a:p>
            <a:r>
              <a:rPr lang="en-US" sz="2400" dirty="0"/>
              <a:t>CASE stops checking once a true condition is found.</a:t>
            </a:r>
          </a:p>
          <a:p>
            <a:r>
              <a:rPr lang="en-US" sz="2400" dirty="0"/>
              <a:t>Can be nested inside other SQL functions.</a:t>
            </a:r>
          </a:p>
          <a:p>
            <a:r>
              <a:rPr lang="en-US" sz="2400" dirty="0"/>
              <a:t>Useful for data transformation during reporting.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67F27-2F24-6B8B-F226-76096CEB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75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A383-2E57-D42B-117B-E122F6ECA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4619-A7ED-7AB7-8F7E-8B1E1E4F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EXAMPLE: SIMPLE CASE IN SELECT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387F1-3ECF-5F33-0403-3BDACC80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D2645-D544-5C96-4ECF-329850F9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7" y="1690689"/>
            <a:ext cx="759142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4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59B47-60DE-8487-4273-9C241A7B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D70B-7865-47B2-3E59-2EBF6467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EXAMPLE: CASE WITH UPDATE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D260F294-6F47-732C-B8C9-9F55DE99D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8243"/>
            <a:ext cx="7886700" cy="3016661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F712-E7D4-DE86-0A54-CECEED14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03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EC91-5C80-1AB4-CDB6-2403A766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7C06-5CAE-06FD-6AC7-6882C5A46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EXAMPLE: CASE IN ORDER BY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3FA5B8-30FD-7B43-7893-9F1B5CAA7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" y="1690689"/>
            <a:ext cx="7204710" cy="276833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FE5C2-265A-A2C2-5688-13D488F96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99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F7EF2-859B-1BDF-DD73-E6ECD8CD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5591-18AA-D090-3D5C-2C1A782D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REPLACE NULL VALUES WITH CASE</a:t>
            </a:r>
            <a:endParaRPr lang="en-MY" sz="3600" b="1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close-up of a phone&#10;&#10;AI-generated content may be incorrect.">
            <a:extLst>
              <a:ext uri="{FF2B5EF4-FFF2-40B4-BE49-F238E27FC236}">
                <a16:creationId xmlns:a16="http://schemas.microsoft.com/office/drawing/2014/main" id="{2FD578BC-3262-5BBC-9792-C534CEAC8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90689"/>
            <a:ext cx="7886700" cy="260260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64094-ED3A-DF2D-591E-63786C81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12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4B2E3-9204-952A-8724-AE13934D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4C7A-0553-5C85-FA41-CDB31D74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325" y="613159"/>
            <a:ext cx="5862585" cy="97130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SUMMARY</a:t>
            </a:r>
            <a:endParaRPr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3E25-314F-C76B-D927-1B1C5FD1F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281" y="1723467"/>
            <a:ext cx="8390039" cy="2523414"/>
          </a:xfrm>
        </p:spPr>
        <p:txBody>
          <a:bodyPr>
            <a:noAutofit/>
          </a:bodyPr>
          <a:lstStyle/>
          <a:p>
            <a:pPr marL="628650" lvl="1" indent="-285750"/>
            <a:r>
              <a:rPr lang="en-US" sz="2400" dirty="0"/>
              <a:t>Logical operators : </a:t>
            </a:r>
            <a:r>
              <a:rPr lang="en-US" sz="2400" b="1" dirty="0"/>
              <a:t>AND, OR, NOT</a:t>
            </a:r>
          </a:p>
          <a:p>
            <a:pPr marL="628650" lvl="1" indent="-285750"/>
            <a:r>
              <a:rPr lang="en-US" sz="2400" dirty="0"/>
              <a:t>Comparison operators: </a:t>
            </a:r>
            <a:r>
              <a:rPr lang="en-US" sz="2400" b="1" dirty="0"/>
              <a:t>=, !=, &lt;, &gt;, &lt;=, &gt;=</a:t>
            </a:r>
          </a:p>
          <a:p>
            <a:pPr marL="628650" lvl="1" indent="-285750"/>
            <a:r>
              <a:rPr lang="en-US" sz="2400" b="1" dirty="0"/>
              <a:t>RANGE, BETWEEN, NULL, DISTINCT</a:t>
            </a:r>
          </a:p>
          <a:p>
            <a:pPr marL="628650" lvl="1" indent="-285750"/>
            <a:r>
              <a:rPr lang="en-US" sz="2400" dirty="0"/>
              <a:t>Number functions : </a:t>
            </a:r>
            <a:r>
              <a:rPr lang="en-US" sz="2400" b="1" dirty="0"/>
              <a:t>ROUND, TRUNCATE, MOD </a:t>
            </a:r>
          </a:p>
          <a:p>
            <a:pPr marL="628650" lvl="1" indent="-285750"/>
            <a:r>
              <a:rPr lang="en-US" sz="2400" dirty="0"/>
              <a:t>String functions: </a:t>
            </a:r>
            <a:r>
              <a:rPr lang="en-US" sz="2400" b="1" dirty="0"/>
              <a:t>UPPER, LOWER, CONCAT, SUBSTR, LENGTH</a:t>
            </a:r>
          </a:p>
          <a:p>
            <a:pPr marL="628650" lvl="1" indent="-285750"/>
            <a:r>
              <a:rPr lang="en-US" sz="2400" dirty="0"/>
              <a:t>Aggregate functions : </a:t>
            </a:r>
            <a:r>
              <a:rPr lang="en-US" sz="2400" b="1" dirty="0"/>
              <a:t>COUNT, MAX, MIN, AVG, SUM</a:t>
            </a:r>
          </a:p>
          <a:p>
            <a:pPr marL="628650" lvl="1" indent="-285750"/>
            <a:r>
              <a:rPr lang="en-US" sz="2400" dirty="0"/>
              <a:t>Conditional Logic: </a:t>
            </a:r>
            <a:r>
              <a:rPr lang="en-US" sz="2400" b="1" dirty="0"/>
              <a:t>CASE</a:t>
            </a:r>
            <a:endParaRPr lang="en-US" sz="2400" dirty="0"/>
          </a:p>
          <a:p>
            <a:pPr>
              <a:defRPr sz="2000"/>
            </a:pPr>
            <a:endParaRPr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181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CF91-5993-AF44-DC4F-355DC84B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93CE6B-B646-C9B2-B570-DF58C662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C3E0F5-2710-AA9A-429D-473458559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35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FF580E4-F631-FD86-7C57-B2A8CFCE4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2" y="3429000"/>
            <a:ext cx="3995252" cy="3006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27F461A-C121-BDE0-9E36-836542C9E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817" y="3028051"/>
            <a:ext cx="3995252" cy="30066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4F494DF-199A-4106-6595-E39564D50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3" y="2870567"/>
            <a:ext cx="2709212" cy="9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02696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Slide Template DB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Slide Template DB</Template>
  <TotalTime>1040</TotalTime>
  <Words>999</Words>
  <Application>Microsoft Office PowerPoint</Application>
  <PresentationFormat>On-screen Show (4:3)</PresentationFormat>
  <Paragraphs>198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Montserrat Semi</vt:lpstr>
      <vt:lpstr>Aptos</vt:lpstr>
      <vt:lpstr>Cascadia Code</vt:lpstr>
      <vt:lpstr>Courier New</vt:lpstr>
      <vt:lpstr>Lecture Slide Template DB</vt:lpstr>
      <vt:lpstr>PowerPoint Presentation</vt:lpstr>
      <vt:lpstr>LECTURE LEARNING OUTCOME</vt:lpstr>
      <vt:lpstr>WHAT IS FILTERING?</vt:lpstr>
      <vt:lpstr>LOGICAL OPERATORS</vt:lpstr>
      <vt:lpstr>COMPARISON OPERATORS</vt:lpstr>
      <vt:lpstr>RANGE &amp; BETWEEN</vt:lpstr>
      <vt:lpstr>NULL</vt:lpstr>
      <vt:lpstr>RULES OF PRECEDENCE</vt:lpstr>
      <vt:lpstr>RULES OF PRECEDENCE</vt:lpstr>
      <vt:lpstr>DISTINCT</vt:lpstr>
      <vt:lpstr>DISTINCT</vt:lpstr>
      <vt:lpstr>INSERTING ROWS WITH NULL VALUES</vt:lpstr>
      <vt:lpstr>NOT OPERATOR</vt:lpstr>
      <vt:lpstr>NUMERIC FUNCTIONS</vt:lpstr>
      <vt:lpstr>USING TRUNC (Oracle) / TRUNCATE (MySQL)</vt:lpstr>
      <vt:lpstr>USING ROUND</vt:lpstr>
      <vt:lpstr>COMPARE ROUND, TRUNCATE &amp; NORMAL</vt:lpstr>
      <vt:lpstr>WHAT ARE STRING FUNCTIONS?</vt:lpstr>
      <vt:lpstr>UPPER() FUNCTION</vt:lpstr>
      <vt:lpstr>LOWER() FUNCTION</vt:lpstr>
      <vt:lpstr>CONCAT() FUNCTION</vt:lpstr>
      <vt:lpstr>SUBSTR() FUNCTION</vt:lpstr>
      <vt:lpstr>LENGTH() FUNCTION</vt:lpstr>
      <vt:lpstr>AGGREGATE FUNCTIONS</vt:lpstr>
      <vt:lpstr>AGGREGATE FUNCTIONS</vt:lpstr>
      <vt:lpstr>AGGREGATE FUNCTIONS</vt:lpstr>
      <vt:lpstr>AGGREGATE FUNCTIONS</vt:lpstr>
      <vt:lpstr>WHAT IS CONDITIONAL LOGIC (CASE)?</vt:lpstr>
      <vt:lpstr>CONDITIONAL LOGIC (CASE)</vt:lpstr>
      <vt:lpstr>EXAMPLE: SIMPLE CASE IN SELECT</vt:lpstr>
      <vt:lpstr>EXAMPLE: CASE WITH UPDATE</vt:lpstr>
      <vt:lpstr>EXAMPLE: CASE IN ORDER BY</vt:lpstr>
      <vt:lpstr>REPLACE NULL VALUES WITH CASE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</dc:title>
  <dc:creator>acidfed</dc:creator>
  <cp:lastModifiedBy>ROZILAWATI BINTI DOLLAH @ MD. ZAIN</cp:lastModifiedBy>
  <cp:revision>48</cp:revision>
  <dcterms:created xsi:type="dcterms:W3CDTF">2019-01-07T08:53:00Z</dcterms:created>
  <dcterms:modified xsi:type="dcterms:W3CDTF">2025-10-13T16:55:16Z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
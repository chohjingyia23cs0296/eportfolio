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315" r:id="rId2"/>
    <p:sldId id="31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  <p:sldId id="408" r:id="rId34"/>
    <p:sldId id="409" r:id="rId35"/>
    <p:sldId id="410" r:id="rId36"/>
    <p:sldId id="411" r:id="rId37"/>
    <p:sldId id="412" r:id="rId38"/>
    <p:sldId id="413" r:id="rId39"/>
    <p:sldId id="414" r:id="rId40"/>
    <p:sldId id="313" r:id="rId41"/>
  </p:sldIdLst>
  <p:sldSz cx="9144000" cy="6858000" type="screen4x3"/>
  <p:notesSz cx="6858000" cy="9144000"/>
  <p:embeddedFontLst>
    <p:embeddedFont>
      <p:font typeface="Cascadia Code" panose="020B0609020000020004" pitchFamily="49" charset="0"/>
      <p:regular r:id="rId44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9" roundtripDataSignature="AMtx7mhEVrst4BOKj/vpGjIRIw10KX65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3CCBDD-E0BC-4259-A1C9-309ED4B31BAB}">
  <a:tblStyle styleId="{533CCBDD-E0BC-4259-A1C9-309ED4B31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5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0" d="100"/>
        <a:sy n="180" d="100"/>
      </p:scale>
      <p:origin x="0" y="-121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14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5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15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15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5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C27356-B77E-B3EA-4564-32D8B50BB0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2844C-24EE-E83F-D054-B6F2808426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CEA71-2553-45C1-9F9C-4DD7B686CF17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831AA-27A6-26B4-65E2-78CDB9500D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23EE7-132D-4103-82C7-18BB075F8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08974-8880-4108-9A0C-1414533471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9901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027" y="-211028"/>
            <a:ext cx="6880030" cy="7302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44320" y="1"/>
            <a:ext cx="9055360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825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25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/>
        </p:nvGrpSpPr>
        <p:grpSpPr>
          <a:xfrm>
            <a:off x="0" y="0"/>
            <a:ext cx="3242592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594748" y="-1062392"/>
            <a:ext cx="180381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832572" y="2842942"/>
            <a:ext cx="7046892" cy="13610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12409" y="3743463"/>
            <a:ext cx="1560526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20140" y="6145600"/>
            <a:ext cx="419100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5334000" y="-35081"/>
            <a:ext cx="368808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8451197" y="349094"/>
            <a:ext cx="1507527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4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1157288" y="-1157288"/>
            <a:ext cx="6858000" cy="91725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2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7752"/>
            <a:ext cx="7886700" cy="1500187"/>
          </a:xfrm>
        </p:spPr>
        <p:txBody>
          <a:bodyPr anchor="t"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814638"/>
            <a:ext cx="7886700" cy="33575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039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381125"/>
          </a:xfrm>
        </p:spPr>
        <p:txBody>
          <a:bodyPr anchor="t">
            <a:normAutofit/>
          </a:bodyPr>
          <a:lstStyle>
            <a:lvl1pPr algn="l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01119"/>
            <a:ext cx="6858000" cy="3461751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433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89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074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70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1" y="2766219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01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3534946" y="1270"/>
            <a:ext cx="5334040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828977" cy="1600200"/>
          </a:xfrm>
        </p:spPr>
        <p:txBody>
          <a:bodyPr anchor="b">
            <a:normAutofit/>
          </a:bodyPr>
          <a:lstStyle>
            <a:lvl1pPr>
              <a:defRPr sz="21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8289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49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038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/>
        </p:nvSpPr>
        <p:spPr>
          <a:xfrm>
            <a:off x="-28575" y="0"/>
            <a:ext cx="9172575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/>
        </p:nvGrpSpPr>
        <p:grpSpPr>
          <a:xfrm>
            <a:off x="5385090" y="6473575"/>
            <a:ext cx="375891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165" y="283590"/>
            <a:ext cx="1103119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/>
        </p:nvGrpSpPr>
        <p:grpSpPr>
          <a:xfrm>
            <a:off x="-44162" y="0"/>
            <a:ext cx="1598115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16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05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44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/>
        </p:nvCxnSpPr>
        <p:spPr>
          <a:xfrm>
            <a:off x="-9525" y="1016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56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85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879042" y="3216670"/>
            <a:ext cx="5034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4 – ADVANCED SQL OPERATIONS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40677" y="2501089"/>
            <a:ext cx="880235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50" b="1" kern="0" dirty="0">
                <a:solidFill>
                  <a:srgbClr val="6C1D35"/>
                </a:solidFill>
              </a:rPr>
              <a:t>SECP3623 DATABASE PROGRAMMING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62" y="1306887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22372"/>
            <a:ext cx="7886700" cy="76831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LECTURE LEARNING OUTCOME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596034" y="1825799"/>
            <a:ext cx="662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627459" y="3130231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37500-5E67-EAEB-A58F-10E1305470C8}"/>
              </a:ext>
            </a:extLst>
          </p:cNvPr>
          <p:cNvSpPr txBox="1"/>
          <p:nvPr/>
        </p:nvSpPr>
        <p:spPr>
          <a:xfrm>
            <a:off x="903767" y="2275945"/>
            <a:ext cx="8070111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Construct SQL statements for data manipulations with multiple tables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1900" dirty="0"/>
              <a:t>Subqueries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1900" dirty="0"/>
              <a:t>Simple Join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1900" dirty="0"/>
              <a:t>Equijoin: </a:t>
            </a:r>
          </a:p>
          <a:p>
            <a:pPr lvl="2"/>
            <a:r>
              <a:rPr lang="en-US" sz="1900" dirty="0"/>
              <a:t>NATURAL JOIN;  </a:t>
            </a:r>
          </a:p>
          <a:p>
            <a:pPr lvl="2"/>
            <a:r>
              <a:rPr lang="en-US" sz="1900" dirty="0"/>
              <a:t>JOIN … ON;  </a:t>
            </a:r>
          </a:p>
          <a:p>
            <a:pPr lvl="2"/>
            <a:r>
              <a:rPr lang="en-US" sz="1900" dirty="0"/>
              <a:t>INNER JOIN ON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1900" dirty="0"/>
              <a:t>Outer join:</a:t>
            </a:r>
          </a:p>
          <a:p>
            <a:pPr lvl="2"/>
            <a:r>
              <a:rPr lang="en-US" sz="1900" dirty="0"/>
              <a:t>LEFT OUTER JOIN; </a:t>
            </a:r>
          </a:p>
          <a:p>
            <a:pPr lvl="2"/>
            <a:r>
              <a:rPr lang="en-US" sz="1900" dirty="0"/>
              <a:t>RIGHT OUTER JOIN;  </a:t>
            </a:r>
          </a:p>
          <a:p>
            <a:pPr lvl="2"/>
            <a:r>
              <a:rPr lang="en-US" sz="1900" dirty="0"/>
              <a:t>FULL OUTER JOIN</a:t>
            </a:r>
          </a:p>
        </p:txBody>
      </p: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B2BF5-6891-46E3-B7E2-1DD03999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91" y="727501"/>
            <a:ext cx="7025402" cy="598882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SUBQUERIES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4A4A-2507-4138-BFC7-21CE164E4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524" y="1754241"/>
            <a:ext cx="7025402" cy="3799985"/>
          </a:xfrm>
        </p:spPr>
        <p:txBody>
          <a:bodyPr anchor="t">
            <a:noAutofit/>
          </a:bodyPr>
          <a:lstStyle/>
          <a:p>
            <a:r>
              <a:rPr lang="en-MY" b="1" dirty="0"/>
              <a:t>Nested query</a:t>
            </a:r>
          </a:p>
          <a:p>
            <a:pPr lvl="1"/>
            <a:r>
              <a:rPr lang="en-MY" sz="2400" dirty="0"/>
              <a:t>Contains outer &amp; inner </a:t>
            </a:r>
            <a:r>
              <a:rPr lang="en-MY" sz="2400" b="1" dirty="0"/>
              <a:t>SELECT</a:t>
            </a:r>
            <a:r>
              <a:rPr lang="en-MY" sz="2400" dirty="0"/>
              <a:t> statements.</a:t>
            </a:r>
          </a:p>
          <a:p>
            <a:pPr lvl="1"/>
            <a:r>
              <a:rPr lang="en-MY" sz="2400" dirty="0"/>
              <a:t>The result of inner </a:t>
            </a:r>
            <a:r>
              <a:rPr lang="en-MY" sz="2400" b="1" dirty="0"/>
              <a:t>SELECT</a:t>
            </a:r>
            <a:r>
              <a:rPr lang="en-MY" sz="2400" dirty="0"/>
              <a:t> (subquery) is used by the outer query to determine the final output.</a:t>
            </a:r>
          </a:p>
          <a:p>
            <a:pPr lvl="1"/>
            <a:r>
              <a:rPr lang="en-MY" sz="2400" dirty="0"/>
              <a:t>Subqueries written at:</a:t>
            </a:r>
          </a:p>
          <a:p>
            <a:pPr lvl="2"/>
            <a:r>
              <a:rPr lang="en-MY" sz="2400" b="1" dirty="0"/>
              <a:t>WHERE</a:t>
            </a:r>
            <a:r>
              <a:rPr lang="en-MY" sz="2400" dirty="0"/>
              <a:t> or </a:t>
            </a:r>
            <a:r>
              <a:rPr lang="en-MY" sz="2400" b="1" dirty="0"/>
              <a:t>HAVING</a:t>
            </a:r>
            <a:r>
              <a:rPr lang="en-MY" sz="2400" dirty="0"/>
              <a:t> clause</a:t>
            </a:r>
          </a:p>
          <a:p>
            <a:pPr lvl="2"/>
            <a:r>
              <a:rPr lang="en-MY" sz="2400" b="1" dirty="0"/>
              <a:t>SELECT</a:t>
            </a:r>
            <a:r>
              <a:rPr lang="en-MY" sz="2400" dirty="0"/>
              <a:t> or </a:t>
            </a:r>
            <a:r>
              <a:rPr lang="en-MY" sz="2400" b="1" dirty="0"/>
              <a:t>FROM</a:t>
            </a:r>
            <a:r>
              <a:rPr lang="en-MY" sz="2400" dirty="0"/>
              <a:t> clause</a:t>
            </a:r>
          </a:p>
          <a:p>
            <a:pPr lvl="1"/>
            <a:r>
              <a:rPr lang="en-MY" sz="2400" dirty="0"/>
              <a:t>When subquery written at </a:t>
            </a:r>
            <a:r>
              <a:rPr lang="en-MY" sz="2400" b="1" dirty="0"/>
              <a:t>SELECT</a:t>
            </a:r>
            <a:r>
              <a:rPr lang="en-MY" sz="2400" dirty="0"/>
              <a:t> clause, the subquery output is a single value.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87B36-9A82-4B0C-A8D5-0E232F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8386" y="6356350"/>
            <a:ext cx="144703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AEEF2DB-3D68-4EFF-B92B-90C34555BE45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0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31EEB42-43AA-4B37-A49B-943B0429B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856" y="1190431"/>
            <a:ext cx="4556966" cy="1128225"/>
          </a:xfrm>
        </p:spPr>
        <p:txBody>
          <a:bodyPr anchor="ctr">
            <a:noAutofit/>
          </a:bodyPr>
          <a:lstStyle/>
          <a:p>
            <a:r>
              <a:rPr lang="en-MY" sz="2000" dirty="0"/>
              <a:t>Example 1:</a:t>
            </a:r>
          </a:p>
          <a:p>
            <a:pPr marL="457200" lvl="1" indent="0">
              <a:buNone/>
            </a:pPr>
            <a:r>
              <a:rPr lang="en-MY" dirty="0"/>
              <a:t>List employee id and salary of all employees who are working in the sales department.</a:t>
            </a:r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F4661968-212E-46F0-AD64-1BCCB0D2EB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672" r="36953"/>
          <a:stretch/>
        </p:blipFill>
        <p:spPr bwMode="auto">
          <a:xfrm>
            <a:off x="5204437" y="1525089"/>
            <a:ext cx="3684462" cy="397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7F4A1D-9E6B-47D1-A73D-3E8D7926BA7C}"/>
              </a:ext>
            </a:extLst>
          </p:cNvPr>
          <p:cNvSpPr txBox="1"/>
          <p:nvPr/>
        </p:nvSpPr>
        <p:spPr>
          <a:xfrm>
            <a:off x="185856" y="2974523"/>
            <a:ext cx="5010412" cy="269304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salary</a:t>
            </a:r>
          </a:p>
          <a:p>
            <a:pPr>
              <a:spcAft>
                <a:spcPts val="600"/>
              </a:spcAft>
            </a:pP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pPr>
              <a:spcAft>
                <a:spcPts val="600"/>
              </a:spcAft>
            </a:pP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 =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(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</a:p>
          <a:p>
            <a:pPr>
              <a:spcAft>
                <a:spcPts val="600"/>
              </a:spcAft>
            </a:pP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</a:t>
            </a: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pPr>
              <a:spcAft>
                <a:spcPts val="600"/>
              </a:spcAft>
            </a:pP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</a:t>
            </a: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=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“</a:t>
            </a:r>
            <a:r>
              <a:rPr lang="en-MY" sz="2400" dirty="0">
                <a:solidFill>
                  <a:srgbClr val="00B05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Sales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”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7676DC3-F0E4-F8E6-2E24-98CA6753ED6C}"/>
              </a:ext>
            </a:extLst>
          </p:cNvPr>
          <p:cNvSpPr txBox="1">
            <a:spLocks/>
          </p:cNvSpPr>
          <p:nvPr/>
        </p:nvSpPr>
        <p:spPr>
          <a:xfrm>
            <a:off x="1765523" y="464225"/>
            <a:ext cx="5612953" cy="5988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MY" sz="3600" b="1" dirty="0">
                <a:solidFill>
                  <a:schemeClr val="accent1"/>
                </a:solidFill>
              </a:rPr>
              <a:t>SUBQUERIES</a:t>
            </a:r>
          </a:p>
        </p:txBody>
      </p:sp>
    </p:spTree>
    <p:extLst>
      <p:ext uri="{BB962C8B-B14F-4D97-AF65-F5344CB8AC3E}">
        <p14:creationId xmlns:p14="http://schemas.microsoft.com/office/powerpoint/2010/main" val="26814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F8F2E6-E57C-4881-9D24-EA6A00690745}"/>
              </a:ext>
            </a:extLst>
          </p:cNvPr>
          <p:cNvSpPr txBox="1"/>
          <p:nvPr/>
        </p:nvSpPr>
        <p:spPr>
          <a:xfrm>
            <a:off x="1551450" y="2468545"/>
            <a:ext cx="5100559" cy="3461658"/>
          </a:xfrm>
          <a:prstGeom prst="rect">
            <a:avLst/>
          </a:prstGeom>
          <a:solidFill>
            <a:srgbClr val="FFFFCC"/>
          </a:solidFill>
        </p:spPr>
        <p:txBody>
          <a:bodyPr wrap="square" rtlCol="0" anchor="t">
            <a:noAutofit/>
          </a:bodyPr>
          <a:lstStyle/>
          <a:p>
            <a:pPr marL="457200" indent="-457200">
              <a:lnSpc>
                <a:spcPct val="90000"/>
              </a:lnSpc>
              <a:spcAft>
                <a:spcPts val="600"/>
              </a:spcAft>
            </a:pP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salary, </a:t>
            </a:r>
            <a:r>
              <a:rPr lang="en-MY" sz="2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</a:t>
            </a:r>
            <a:endParaRPr lang="en-MY" sz="2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pPr marL="407988" indent="-407988">
              <a:lnSpc>
                <a:spcPct val="90000"/>
              </a:lnSpc>
              <a:spcAft>
                <a:spcPts val="600"/>
              </a:spcAft>
            </a:pP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(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  <a:endParaRPr lang="en-MY" sz="2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	</a:t>
            </a: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	</a:t>
            </a:r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=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“</a:t>
            </a:r>
            <a:r>
              <a:rPr lang="en-MY" sz="2400" dirty="0">
                <a:solidFill>
                  <a:srgbClr val="00B05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Sales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”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8864B-2FC1-4F8E-B7DD-357ECB002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701" y="1260063"/>
            <a:ext cx="7848233" cy="983099"/>
          </a:xfrm>
        </p:spPr>
        <p:txBody>
          <a:bodyPr wrap="square" anchor="t">
            <a:normAutofit/>
          </a:bodyPr>
          <a:lstStyle/>
          <a:p>
            <a:r>
              <a:rPr lang="en-US" sz="1800" dirty="0"/>
              <a:t>What if we want to also display the department name in the result? How should the statement be written?</a:t>
            </a:r>
          </a:p>
          <a:p>
            <a:r>
              <a:rPr lang="en-US" sz="1800" dirty="0"/>
              <a:t>Will this query execute correctly???</a:t>
            </a:r>
            <a:endParaRPr lang="en-MY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501EB-A783-41C3-B6F6-10C24484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5638" y="6356350"/>
            <a:ext cx="3857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  <a:defRPr/>
            </a:pPr>
            <a:fld id="{4AEEF2DB-3D68-4EFF-B92B-90C34555BE45}" type="slidenum">
              <a:rPr lang="en-US">
                <a:solidFill>
                  <a:schemeClr val="tx1">
                    <a:alpha val="80000"/>
                  </a:schemeClr>
                </a:solidFill>
              </a:rPr>
              <a:pPr algn="r" defTabSz="914400">
                <a:spcAft>
                  <a:spcPts val="600"/>
                </a:spcAft>
                <a:defRPr/>
              </a:pPr>
              <a:t>5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3EED34C-7407-921D-D3FF-D9171F12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01" y="435798"/>
            <a:ext cx="7025402" cy="598882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SUBQUERIES</a:t>
            </a:r>
          </a:p>
        </p:txBody>
      </p:sp>
    </p:spTree>
    <p:extLst>
      <p:ext uri="{BB962C8B-B14F-4D97-AF65-F5344CB8AC3E}">
        <p14:creationId xmlns:p14="http://schemas.microsoft.com/office/powerpoint/2010/main" val="9490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8071-8A1E-42C6-84C9-DE179E7E6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16" y="365760"/>
            <a:ext cx="8031508" cy="1188720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OBTAINING DATA FROM MULTIPLE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7885-8E2C-4F01-838D-301D22D2E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686" y="1920240"/>
            <a:ext cx="7187739" cy="4297680"/>
          </a:xfrm>
        </p:spPr>
        <p:txBody>
          <a:bodyPr anchor="t">
            <a:normAutofit/>
          </a:bodyPr>
          <a:lstStyle/>
          <a:p>
            <a:r>
              <a:rPr lang="en-US" dirty="0"/>
              <a:t>Sometimes you need to use and display  data from more than one table. </a:t>
            </a:r>
          </a:p>
          <a:p>
            <a:pPr lvl="1"/>
            <a:r>
              <a:rPr lang="en-US" sz="2400" dirty="0"/>
              <a:t>Employee IDs exist in the EMPLOYEES table.</a:t>
            </a:r>
          </a:p>
          <a:p>
            <a:pPr lvl="1"/>
            <a:r>
              <a:rPr lang="en-US" sz="2400" dirty="0"/>
              <a:t>Department IDs exist in both the EMPLOYEES and DEPARTMENTS tables.</a:t>
            </a:r>
          </a:p>
          <a:p>
            <a:pPr lvl="1"/>
            <a:r>
              <a:rPr lang="en-US" sz="2400" dirty="0"/>
              <a:t>Department names exist in the DEPARTMENTS table.</a:t>
            </a:r>
          </a:p>
          <a:p>
            <a:r>
              <a:rPr lang="en-US" dirty="0"/>
              <a:t>To produce the report, you need to </a:t>
            </a:r>
            <a:r>
              <a:rPr lang="en-US" b="1" dirty="0"/>
              <a:t>join</a:t>
            </a:r>
            <a:r>
              <a:rPr lang="en-US" dirty="0"/>
              <a:t> the EMPLOYEES and DEPARTMENTS tables, and access data from </a:t>
            </a:r>
            <a:r>
              <a:rPr lang="en-US" b="1" dirty="0"/>
              <a:t>both of them</a:t>
            </a:r>
            <a:r>
              <a:rPr lang="en-US" dirty="0"/>
              <a:t>.</a:t>
            </a:r>
          </a:p>
          <a:p>
            <a:pPr lvl="1"/>
            <a:endParaRPr lang="en-MY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86A96-0976-48C7-A1C6-6EEB8755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8386" y="6356350"/>
            <a:ext cx="144703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AEEF2DB-3D68-4EFF-B92B-90C34555BE45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05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8071-8A1E-42C6-84C9-DE179E7E6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84" y="493130"/>
            <a:ext cx="8471301" cy="1006474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OBTAINING DATA FROM MULTIPLE TABLES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86A96-0976-48C7-A1C6-6EEB8755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F861C3-B43A-4A40-A23C-290E41C77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09713"/>
            <a:ext cx="7573551" cy="43332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5C8FD5-F8E9-47A6-9E2F-62759D1988AC}"/>
              </a:ext>
            </a:extLst>
          </p:cNvPr>
          <p:cNvSpPr/>
          <p:nvPr/>
        </p:nvSpPr>
        <p:spPr>
          <a:xfrm>
            <a:off x="628650" y="2038027"/>
            <a:ext cx="3765119" cy="209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1F9020-E191-4705-B41A-4F5F695D0376}"/>
              </a:ext>
            </a:extLst>
          </p:cNvPr>
          <p:cNvSpPr/>
          <p:nvPr/>
        </p:nvSpPr>
        <p:spPr>
          <a:xfrm>
            <a:off x="4455763" y="2038027"/>
            <a:ext cx="3975038" cy="209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106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DF00-6604-4DB6-AD9E-C1D0A8B1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9149"/>
            <a:ext cx="7886700" cy="1325563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SIMPLE JOIN / TRADITIONAL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D36B-C750-4876-8059-55C342276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1:</a:t>
            </a:r>
          </a:p>
          <a:p>
            <a:r>
              <a:rPr lang="en-US" dirty="0"/>
              <a:t>List the employee first name, last name and employee salary for the SALES department.</a:t>
            </a:r>
            <a:r>
              <a:rPr lang="en-MY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13690-C4A0-49A1-9D45-56537B48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ECFE-3699-418D-9665-2ED6FADC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96016-3278-4FC0-9400-1172764CFC80}"/>
              </a:ext>
            </a:extLst>
          </p:cNvPr>
          <p:cNvSpPr txBox="1"/>
          <p:nvPr/>
        </p:nvSpPr>
        <p:spPr>
          <a:xfrm>
            <a:off x="628650" y="2892084"/>
            <a:ext cx="7241721" cy="132343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salary</a:t>
            </a: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employees, departments</a:t>
            </a: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 err="1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2000" dirty="0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2000" dirty="0" err="1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endParaRPr lang="en-MY" sz="2000" dirty="0">
              <a:solidFill>
                <a:srgbClr val="C00000"/>
              </a:solidFill>
              <a:highlight>
                <a:srgbClr val="00FFFF"/>
              </a:highlight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AND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‘Sales’;</a:t>
            </a:r>
            <a:endParaRPr lang="en-MY" sz="20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50E4BD-1C0F-43F7-8F0B-59A02BFC4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249" y="4304900"/>
            <a:ext cx="4722365" cy="21672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F90403-6F7C-498F-BC30-AD96D858ECC3}"/>
              </a:ext>
            </a:extLst>
          </p:cNvPr>
          <p:cNvSpPr/>
          <p:nvPr/>
        </p:nvSpPr>
        <p:spPr>
          <a:xfrm>
            <a:off x="1101547" y="4555740"/>
            <a:ext cx="21063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This is a simple join</a:t>
            </a:r>
          </a:p>
          <a:p>
            <a:r>
              <a:rPr lang="en-US" dirty="0">
                <a:solidFill>
                  <a:srgbClr val="000000"/>
                </a:solidFill>
              </a:rPr>
              <a:t>*without the use of any </a:t>
            </a:r>
            <a:r>
              <a:rPr lang="en-US" b="1" dirty="0">
                <a:solidFill>
                  <a:srgbClr val="C00000"/>
                </a:solidFill>
              </a:rPr>
              <a:t>special syntax </a:t>
            </a:r>
            <a:r>
              <a:rPr lang="en-US" dirty="0">
                <a:solidFill>
                  <a:srgbClr val="000000"/>
                </a:solidFill>
              </a:rPr>
              <a:t>in SQL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9276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DF00-6604-4DB6-AD9E-C1D0A8B1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1" dirty="0">
                <a:solidFill>
                  <a:schemeClr val="accent1"/>
                </a:solidFill>
              </a:rPr>
              <a:t>SIMPLE JOIN / TRADITIONAL METHOD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D36B-C750-4876-8059-55C34227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58104"/>
            <a:ext cx="7886700" cy="4878811"/>
          </a:xfrm>
        </p:spPr>
        <p:txBody>
          <a:bodyPr/>
          <a:lstStyle/>
          <a:p>
            <a:pPr marL="0" indent="0">
              <a:buNone/>
            </a:pPr>
            <a:r>
              <a:rPr lang="en-MY" b="1" dirty="0"/>
              <a:t>Query 2:</a:t>
            </a:r>
          </a:p>
          <a:p>
            <a:r>
              <a:rPr lang="en-US" dirty="0"/>
              <a:t>List all employees id, first name, last name and department name.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ECFE-3699-418D-9665-2ED6FADC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96016-3278-4FC0-9400-1172764CFC80}"/>
              </a:ext>
            </a:extLst>
          </p:cNvPr>
          <p:cNvSpPr txBox="1"/>
          <p:nvPr/>
        </p:nvSpPr>
        <p:spPr>
          <a:xfrm>
            <a:off x="951138" y="2275835"/>
            <a:ext cx="7241721" cy="101566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</a:t>
            </a: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employees, departments</a:t>
            </a: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 err="1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2000" dirty="0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2000" dirty="0" err="1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20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96E214-B8DA-48E6-95CA-AAB80F8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47" y="3945282"/>
            <a:ext cx="4594945" cy="254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1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DF00-6604-4DB6-AD9E-C1D0A8B1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6712"/>
            <a:ext cx="7886700" cy="927100"/>
          </a:xfrm>
        </p:spPr>
        <p:txBody>
          <a:bodyPr/>
          <a:lstStyle/>
          <a:p>
            <a:r>
              <a:rPr lang="en-MY" sz="3200" b="1" dirty="0">
                <a:solidFill>
                  <a:schemeClr val="accent1"/>
                </a:solidFill>
              </a:rPr>
              <a:t>SIMPLE JOIN / TRADITIONAL METHOD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D36B-C750-4876-8059-55C34227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5555"/>
            <a:ext cx="7886700" cy="4530725"/>
          </a:xfrm>
        </p:spPr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13690-C4A0-49A1-9D45-56537B48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ECFE-3699-418D-9665-2ED6FADC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96016-3278-4FC0-9400-1172764CFC80}"/>
              </a:ext>
            </a:extLst>
          </p:cNvPr>
          <p:cNvSpPr txBox="1"/>
          <p:nvPr/>
        </p:nvSpPr>
        <p:spPr>
          <a:xfrm>
            <a:off x="325892" y="2659033"/>
            <a:ext cx="8524192" cy="132343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</a:t>
            </a:r>
            <a:r>
              <a:rPr lang="en-MY" sz="2000" b="1" dirty="0" err="1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</a:t>
            </a:r>
            <a:r>
              <a:rPr lang="en-MY" sz="2000" dirty="0" err="1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.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  <a:endParaRPr lang="en-MY" sz="20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employees, departments</a:t>
            </a: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20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F91CD-2AF6-44F7-A61B-1AEB3B2EFCC0}"/>
              </a:ext>
            </a:extLst>
          </p:cNvPr>
          <p:cNvSpPr/>
          <p:nvPr/>
        </p:nvSpPr>
        <p:spPr>
          <a:xfrm>
            <a:off x="2921431" y="4156017"/>
            <a:ext cx="44945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To solve the ambiguous column</a:t>
            </a:r>
          </a:p>
          <a:p>
            <a:r>
              <a:rPr lang="en-US" dirty="0">
                <a:solidFill>
                  <a:srgbClr val="00B0F0"/>
                </a:solidFill>
              </a:rPr>
              <a:t>issue, use </a:t>
            </a:r>
            <a:r>
              <a:rPr lang="en-US" b="1" dirty="0">
                <a:solidFill>
                  <a:srgbClr val="00B0F0"/>
                </a:solidFill>
              </a:rPr>
              <a:t>Table prefix </a:t>
            </a:r>
            <a:r>
              <a:rPr lang="en-US" dirty="0">
                <a:solidFill>
                  <a:srgbClr val="00B0F0"/>
                </a:solidFill>
              </a:rPr>
              <a:t>to correct the error</a:t>
            </a:r>
            <a:endParaRPr lang="en-MY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E06CF5-0BF7-49DC-95BA-521440CEF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975893"/>
            <a:ext cx="7144747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1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DD5C-32BC-48B3-B552-95F861612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59" y="433430"/>
            <a:ext cx="8676167" cy="1180152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JOINING TABLES USING SQL:1999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79BA7-3A2B-4D86-95E4-CE0159B7F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4" y="1613581"/>
            <a:ext cx="7886700" cy="4530725"/>
          </a:xfrm>
        </p:spPr>
        <p:txBody>
          <a:bodyPr/>
          <a:lstStyle/>
          <a:p>
            <a:r>
              <a:rPr lang="en-US" dirty="0"/>
              <a:t>Use a join to query data from more than one table: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0CD54-F05C-4339-B403-A6C6A1C4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EC5D5-A723-4958-A90E-86B00757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FBBC6-0B00-425C-85AA-5CCB5CEFE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41" y="2393602"/>
            <a:ext cx="8237117" cy="3116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115287-4317-4198-8D3F-5C71655AF47C}"/>
              </a:ext>
            </a:extLst>
          </p:cNvPr>
          <p:cNvSpPr txBox="1"/>
          <p:nvPr/>
        </p:nvSpPr>
        <p:spPr>
          <a:xfrm>
            <a:off x="6147991" y="5655250"/>
            <a:ext cx="1379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[ ] = optional</a:t>
            </a:r>
          </a:p>
        </p:txBody>
      </p:sp>
    </p:spTree>
    <p:extLst>
      <p:ext uri="{BB962C8B-B14F-4D97-AF65-F5344CB8AC3E}">
        <p14:creationId xmlns:p14="http://schemas.microsoft.com/office/powerpoint/2010/main" val="1006826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18D81-F141-447E-8B78-971398C3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29110"/>
            <a:ext cx="7517548" cy="857894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chemeClr val="accent1"/>
                </a:solidFill>
              </a:rPr>
              <a:t>EQUIJOIN (NATURAL JOIN, JOIN…USING, JOIN…ON, INNER JOIN…ON)</a:t>
            </a:r>
            <a:endParaRPr lang="en-MY" sz="35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82AB4-9518-414B-820A-0775869F2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59090"/>
            <a:ext cx="4188279" cy="3797260"/>
          </a:xfrm>
        </p:spPr>
        <p:txBody>
          <a:bodyPr>
            <a:noAutofit/>
          </a:bodyPr>
          <a:lstStyle/>
          <a:p>
            <a:r>
              <a:rPr lang="en-MY" sz="2000" dirty="0"/>
              <a:t>That is where a column (or multiple columns) in two or more tables match</a:t>
            </a:r>
          </a:p>
          <a:p>
            <a:r>
              <a:rPr lang="en-MY" sz="2000" dirty="0"/>
              <a:t>Can write using:</a:t>
            </a:r>
          </a:p>
          <a:p>
            <a:pPr lvl="1"/>
            <a:r>
              <a:rPr lang="en-MY" dirty="0"/>
              <a:t>Simple join:</a:t>
            </a:r>
          </a:p>
          <a:p>
            <a:pPr lvl="2"/>
            <a:r>
              <a:rPr lang="en-MY" sz="2000" b="1" dirty="0"/>
              <a:t>SELECT…FROM…WHERE</a:t>
            </a:r>
          </a:p>
          <a:p>
            <a:pPr lvl="1"/>
            <a:r>
              <a:rPr lang="en-MY" dirty="0"/>
              <a:t>ANSI syntax:</a:t>
            </a:r>
          </a:p>
          <a:p>
            <a:pPr lvl="2"/>
            <a:r>
              <a:rPr lang="en-MY" sz="2000" b="1" dirty="0"/>
              <a:t>NATURAL JOIN</a:t>
            </a:r>
          </a:p>
          <a:p>
            <a:pPr lvl="2"/>
            <a:r>
              <a:rPr lang="en-MY" sz="2000" b="1" dirty="0"/>
              <a:t>JOIN…USING</a:t>
            </a:r>
          </a:p>
          <a:p>
            <a:pPr lvl="2"/>
            <a:r>
              <a:rPr lang="en-MY" sz="2000" b="1" dirty="0"/>
              <a:t>JOIN…ON</a:t>
            </a:r>
          </a:p>
          <a:p>
            <a:pPr lvl="2"/>
            <a:r>
              <a:rPr lang="en-MY" sz="2000" b="1" dirty="0"/>
              <a:t>INNER JOIN…ON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92B5F1-C0CB-43A2-B075-02AAC8E6F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759" y="2962451"/>
            <a:ext cx="3332159" cy="25076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818A8-188B-44D3-B2B9-E92FE3A0F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  <a:defRPr/>
            </a:pPr>
            <a:fld id="{3A7A07CF-527F-4BFE-81AC-B06B1A570A4B}" type="datetime1">
              <a:rPr lang="en-US" sz="1000">
                <a:solidFill>
                  <a:prstClr val="black">
                    <a:tint val="75000"/>
                  </a:prstClr>
                </a:solidFill>
              </a:rPr>
              <a:pPr algn="l">
                <a:spcAft>
                  <a:spcPts val="600"/>
                </a:spcAft>
                <a:defRPr/>
              </a:pPr>
              <a:t>10/29/2025</a:t>
            </a:fld>
            <a:endParaRPr lang="en-US" sz="10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E83A7-8F4C-4C84-BAB6-0ECCEF90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  <a:defRPr/>
            </a:pPr>
            <a:fld id="{4AEEF2DB-3D68-4EFF-B92B-90C34555BE45}" type="slidenum">
              <a:rPr lang="en-US" sz="1000">
                <a:solidFill>
                  <a:prstClr val="black">
                    <a:tint val="75000"/>
                  </a:prstClr>
                </a:solidFill>
              </a:rPr>
              <a:pPr algn="r">
                <a:spcAft>
                  <a:spcPts val="600"/>
                </a:spcAft>
                <a:defRPr/>
              </a:pPr>
              <a:t>12</a:t>
            </a:fld>
            <a:endParaRPr lang="en-US" sz="10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514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683A-BE6C-475D-BF47-0C69C737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22" y="365760"/>
            <a:ext cx="7025402" cy="1188720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NATURAL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D9B40-5FF7-4048-828B-7EC04129B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022" y="2176272"/>
            <a:ext cx="7025403" cy="4041648"/>
          </a:xfrm>
        </p:spPr>
        <p:txBody>
          <a:bodyPr anchor="t"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NATURAL JOIN </a:t>
            </a:r>
            <a:r>
              <a:rPr lang="en-US" dirty="0"/>
              <a:t>clause is based on all columns in the two tables that have the </a:t>
            </a:r>
            <a:r>
              <a:rPr lang="en-US" b="1" dirty="0"/>
              <a:t>same name</a:t>
            </a:r>
            <a:r>
              <a:rPr lang="en-US" dirty="0"/>
              <a:t>.</a:t>
            </a:r>
          </a:p>
          <a:p>
            <a:r>
              <a:rPr lang="en-US" dirty="0"/>
              <a:t>It selects rows from the two tables that have </a:t>
            </a:r>
            <a:r>
              <a:rPr lang="en-US" b="1" dirty="0"/>
              <a:t>equal values </a:t>
            </a:r>
            <a:r>
              <a:rPr lang="en-US" dirty="0"/>
              <a:t>in all matched columns.</a:t>
            </a:r>
          </a:p>
          <a:p>
            <a:r>
              <a:rPr lang="en-US" dirty="0"/>
              <a:t>If the columns having the same names have different data types, an error is returned.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A1A3A-1DEA-45AF-A3D8-0690BCF4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6407" y="6356350"/>
            <a:ext cx="144735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3A7A07CF-527F-4BFE-81AC-B06B1A570A4B}" type="datetime1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10/29/2025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A6442-2881-41A0-9C0E-AB5B54A4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8386" y="6356350"/>
            <a:ext cx="144703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AEEF2DB-3D68-4EFF-B92B-90C34555BE45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745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390A-D182-4EDA-BBBF-D516235E6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45218"/>
          </a:xfrm>
        </p:spPr>
        <p:txBody>
          <a:bodyPr/>
          <a:lstStyle/>
          <a:p>
            <a:r>
              <a:rPr lang="en-MY" sz="3200" b="1" dirty="0">
                <a:solidFill>
                  <a:schemeClr val="accent1"/>
                </a:solidFill>
              </a:rPr>
              <a:t>NATURAL JOIN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A5CE-9CB1-4F52-AB7F-2A8CD6C19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9714"/>
            <a:ext cx="7886700" cy="4667250"/>
          </a:xfrm>
        </p:spPr>
        <p:txBody>
          <a:bodyPr/>
          <a:lstStyle/>
          <a:p>
            <a:pPr marL="0" indent="0">
              <a:buNone/>
            </a:pPr>
            <a:r>
              <a:rPr lang="en-MY" b="1" dirty="0"/>
              <a:t>Query 2:</a:t>
            </a:r>
          </a:p>
          <a:p>
            <a:r>
              <a:rPr lang="en-US" dirty="0"/>
              <a:t>List all employees id, first name, last name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3E254-CEFD-4211-B9FF-C84B7F87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29BA5-81C3-49EE-AEE5-783C3E10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53DB4-2C48-492E-9C86-52FCA8943D5F}"/>
              </a:ext>
            </a:extLst>
          </p:cNvPr>
          <p:cNvSpPr txBox="1"/>
          <p:nvPr/>
        </p:nvSpPr>
        <p:spPr>
          <a:xfrm>
            <a:off x="293915" y="2888882"/>
            <a:ext cx="4052942" cy="193899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228600" indent="-228600"/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2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</a:t>
            </a:r>
          </a:p>
          <a:p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pPr marL="228600" indent="-228600"/>
            <a:r>
              <a:rPr lang="en-MY" sz="2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</a:t>
            </a:r>
            <a:r>
              <a:rPr lang="en-MY" sz="2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departments;</a:t>
            </a:r>
            <a:endParaRPr lang="en-MY" sz="2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78E45-3912-4CCD-B417-1576413A6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12571"/>
            <a:ext cx="4052942" cy="313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50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5F7E-DA02-4ED6-A528-060D8EED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503" y="404654"/>
            <a:ext cx="6571206" cy="556101"/>
          </a:xfrm>
        </p:spPr>
        <p:txBody>
          <a:bodyPr>
            <a:no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NATURAL JOIN</a:t>
            </a:r>
            <a:endParaRPr lang="en-MY" sz="3600" dirty="0">
              <a:solidFill>
                <a:srgbClr val="30303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E8BCC-71F1-4079-ADBA-C2A9AC91C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42" y="3652706"/>
            <a:ext cx="4852287" cy="28006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A7B5-A71C-4743-8302-695BE27E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58" y="723626"/>
            <a:ext cx="7795830" cy="13341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93D03-CDE6-4C20-8C37-366E1A24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385" y="5895487"/>
            <a:ext cx="1978682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  <a:defRPr/>
            </a:pPr>
            <a:fld id="{3A7A07CF-527F-4BFE-81AC-B06B1A570A4B}" type="datetime1">
              <a:rPr lang="en-US">
                <a:solidFill>
                  <a:srgbClr val="FFFFFF">
                    <a:alpha val="80000"/>
                  </a:srgbClr>
                </a:solidFill>
              </a:rPr>
              <a:pPr algn="r">
                <a:spcAft>
                  <a:spcPts val="600"/>
                </a:spcAft>
                <a:defRPr/>
              </a:pPr>
              <a:t>10/29/2025</a:t>
            </a:fld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B8F5B-CC4D-48C8-A2B2-6AE374C1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48709" y="5532120"/>
            <a:ext cx="100835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AEEF2DB-3D68-4EFF-B92B-90C34555BE45}" type="slidenum">
              <a:rPr lang="en-US">
                <a:solidFill>
                  <a:srgbClr val="FFFFFF">
                    <a:alpha val="80000"/>
                  </a:srgbClr>
                </a:solidFill>
              </a:rPr>
              <a:pPr>
                <a:spcAft>
                  <a:spcPts val="600"/>
                </a:spcAft>
                <a:defRPr/>
              </a:pPr>
              <a:t>15</a:t>
            </a:fld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480CF-FD1D-49BE-9B10-8EC4F897EED3}"/>
              </a:ext>
            </a:extLst>
          </p:cNvPr>
          <p:cNvSpPr txBox="1"/>
          <p:nvPr/>
        </p:nvSpPr>
        <p:spPr>
          <a:xfrm>
            <a:off x="419756" y="1993695"/>
            <a:ext cx="7886700" cy="147732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600"/>
              </a:spcAft>
            </a:pPr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</a:t>
            </a:r>
            <a:endParaRPr lang="en-MY" sz="20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pPr>
              <a:spcAft>
                <a:spcPts val="600"/>
              </a:spcAft>
            </a:pPr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departments;</a:t>
            </a:r>
            <a:endParaRPr lang="en-MY" sz="20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2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5F7E-DA02-4ED6-A528-060D8EED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847" y="417034"/>
            <a:ext cx="5972332" cy="444204"/>
          </a:xfrm>
        </p:spPr>
        <p:txBody>
          <a:bodyPr>
            <a:normAutofit fontScale="90000"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NATURAL JOIN</a:t>
            </a:r>
            <a:endParaRPr lang="en-MY" sz="3600" dirty="0">
              <a:solidFill>
                <a:srgbClr val="30303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DB80F-9538-4745-AEEE-B2A58D63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95" y="4110597"/>
            <a:ext cx="5042767" cy="23303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A7B5-A71C-4743-8302-695BE27E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526" y="1194748"/>
            <a:ext cx="8068503" cy="847984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MY" sz="2000" b="1" dirty="0"/>
              <a:t>Query 4a:</a:t>
            </a:r>
          </a:p>
          <a:p>
            <a:r>
              <a:rPr lang="en-US" sz="2000" dirty="0"/>
              <a:t>List all employee id, first name, last name, department name and department location id.</a:t>
            </a:r>
            <a:endParaRPr lang="en-MY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93D03-CDE6-4C20-8C37-366E1A24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385" y="5895487"/>
            <a:ext cx="1978682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  <a:defRPr/>
            </a:pPr>
            <a:fld id="{3A7A07CF-527F-4BFE-81AC-B06B1A570A4B}" type="datetime1">
              <a:rPr lang="en-US">
                <a:solidFill>
                  <a:srgbClr val="FFFFFF">
                    <a:alpha val="80000"/>
                  </a:srgbClr>
                </a:solidFill>
              </a:rPr>
              <a:pPr algn="r">
                <a:spcAft>
                  <a:spcPts val="600"/>
                </a:spcAft>
                <a:defRPr/>
              </a:pPr>
              <a:t>10/29/2025</a:t>
            </a:fld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480CF-FD1D-49BE-9B10-8EC4F897EED3}"/>
              </a:ext>
            </a:extLst>
          </p:cNvPr>
          <p:cNvSpPr txBox="1"/>
          <p:nvPr/>
        </p:nvSpPr>
        <p:spPr>
          <a:xfrm>
            <a:off x="385429" y="2376243"/>
            <a:ext cx="7886700" cy="147732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293688" indent="-293688">
              <a:spcAft>
                <a:spcPts val="600"/>
              </a:spcAft>
            </a:pPr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location_id</a:t>
            </a:r>
          </a:p>
          <a:p>
            <a:pPr>
              <a:spcAft>
                <a:spcPts val="600"/>
              </a:spcAft>
            </a:pPr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pPr>
              <a:spcAft>
                <a:spcPts val="600"/>
              </a:spcAft>
            </a:pPr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departments;</a:t>
            </a:r>
            <a:endParaRPr lang="en-MY" sz="20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53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5F7E-DA02-4ED6-A528-060D8EED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967" y="457072"/>
            <a:ext cx="7886700" cy="622170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NATURAL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A7B5-A71C-4743-8302-695BE27E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52434"/>
            <a:ext cx="7886700" cy="4530725"/>
          </a:xfrm>
        </p:spPr>
        <p:txBody>
          <a:bodyPr/>
          <a:lstStyle/>
          <a:p>
            <a:pPr marL="0" indent="0">
              <a:buNone/>
            </a:pPr>
            <a:r>
              <a:rPr lang="en-MY" b="1" dirty="0"/>
              <a:t>Query 4b:</a:t>
            </a:r>
          </a:p>
          <a:p>
            <a:r>
              <a:rPr lang="en-US" dirty="0"/>
              <a:t>List all employee id, first name, last name, department name and city.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93D03-CDE6-4C20-8C37-366E1A24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B8F5B-CC4D-48C8-A2B2-6AE374C1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480CF-FD1D-49BE-9B10-8EC4F897EED3}"/>
              </a:ext>
            </a:extLst>
          </p:cNvPr>
          <p:cNvSpPr txBox="1"/>
          <p:nvPr/>
        </p:nvSpPr>
        <p:spPr>
          <a:xfrm>
            <a:off x="549967" y="2316310"/>
            <a:ext cx="7886700" cy="132343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city</a:t>
            </a: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locations;</a:t>
            </a:r>
            <a:endParaRPr lang="en-MY" sz="20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1FC81C-7CB5-404E-B501-CE685B6A6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43" y="4080537"/>
            <a:ext cx="5447303" cy="23203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EC12F5-5755-46C2-8B47-9E8AD4899255}"/>
              </a:ext>
            </a:extLst>
          </p:cNvPr>
          <p:cNvSpPr/>
          <p:nvPr/>
        </p:nvSpPr>
        <p:spPr>
          <a:xfrm>
            <a:off x="7075196" y="4541690"/>
            <a:ext cx="2068804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Natural join with multiple tables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3060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2486-414D-48C7-83BF-D599A190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299" y="716634"/>
            <a:ext cx="7025402" cy="750659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JOIN…USING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F21CC-59A0-40C6-A2CD-C0C237C92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022" y="2176272"/>
            <a:ext cx="7025403" cy="4041648"/>
          </a:xfrm>
        </p:spPr>
        <p:txBody>
          <a:bodyPr anchor="t">
            <a:normAutofit/>
          </a:bodyPr>
          <a:lstStyle/>
          <a:p>
            <a:r>
              <a:rPr lang="en-US" sz="2800" dirty="0"/>
              <a:t>If several columns have the same names but the data types do not match, use the </a:t>
            </a:r>
            <a:r>
              <a:rPr lang="en-US" sz="2800" b="1" dirty="0"/>
              <a:t>USING</a:t>
            </a:r>
            <a:r>
              <a:rPr lang="en-US" sz="2800" dirty="0"/>
              <a:t> clause to specify the columns for the equijoin.</a:t>
            </a:r>
          </a:p>
          <a:p>
            <a:r>
              <a:rPr lang="en-US" sz="2800" dirty="0"/>
              <a:t>Use the </a:t>
            </a:r>
            <a:r>
              <a:rPr lang="en-US" sz="2800" b="1" dirty="0"/>
              <a:t>USING</a:t>
            </a:r>
            <a:r>
              <a:rPr lang="en-US" sz="2800" dirty="0"/>
              <a:t> clause to match only one column when more than one column matches.</a:t>
            </a:r>
          </a:p>
          <a:p>
            <a:endParaRPr lang="en-MY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0675-8022-4E2A-B8E8-305B8593C3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6407" y="6356350"/>
            <a:ext cx="144735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3A7A07CF-527F-4BFE-81AC-B06B1A570A4B}" type="datetime1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10/29/2025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CF66-0EB3-4588-8077-668850E6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8386" y="6356350"/>
            <a:ext cx="144703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AEEF2DB-3D68-4EFF-B92B-90C34555BE45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18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019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3D443-CF69-4479-BBA3-228EBF6B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45186"/>
            <a:ext cx="7886700" cy="772558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JOIN…USING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2CB32-849A-44E7-8B77-4BF0D492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F4D4-996D-44E1-8859-80DF8057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7B560-2853-4112-8210-D13C3430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61BEC-9EF6-414F-AF95-B7D95526029C}"/>
              </a:ext>
            </a:extLst>
          </p:cNvPr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department_id, department_name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USING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(department_id);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F1D700-31F0-461C-8AFA-D59FCA1A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9" y="4052582"/>
            <a:ext cx="4831514" cy="21243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D00773-1C07-4367-ABCE-DDC94130EA1B}"/>
              </a:ext>
            </a:extLst>
          </p:cNvPr>
          <p:cNvSpPr/>
          <p:nvPr/>
        </p:nvSpPr>
        <p:spPr>
          <a:xfrm>
            <a:off x="178282" y="4052582"/>
            <a:ext cx="1832327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Join based on the </a:t>
            </a:r>
            <a:r>
              <a:rPr lang="en-US" b="1" dirty="0">
                <a:solidFill>
                  <a:srgbClr val="000000"/>
                </a:solidFill>
              </a:rPr>
              <a:t>department_id </a:t>
            </a:r>
            <a:r>
              <a:rPr lang="en-US" dirty="0">
                <a:solidFill>
                  <a:srgbClr val="000000"/>
                </a:solidFill>
              </a:rPr>
              <a:t>attribute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67961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E25A-A7AD-4C99-8CED-B2EC82E88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2558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JOIN… ON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AA4A-EE0C-4674-8233-C886C0D58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4472C4"/>
                </a:solidFill>
              </a:rPr>
              <a:t>JOIN</a:t>
            </a:r>
            <a:r>
              <a:rPr lang="en-US" dirty="0"/>
              <a:t> condition for the </a:t>
            </a:r>
            <a:r>
              <a:rPr lang="en-US" b="1" dirty="0">
                <a:solidFill>
                  <a:srgbClr val="4472C4"/>
                </a:solidFill>
              </a:rPr>
              <a:t>NATURAL JOIN </a:t>
            </a:r>
            <a:r>
              <a:rPr lang="en-US" dirty="0"/>
              <a:t>is basically an equijoin of all columns with the same name.</a:t>
            </a:r>
          </a:p>
          <a:p>
            <a:r>
              <a:rPr lang="en-US" dirty="0"/>
              <a:t>Use the </a:t>
            </a:r>
            <a:r>
              <a:rPr lang="en-US" b="1" dirty="0">
                <a:solidFill>
                  <a:srgbClr val="4472C4"/>
                </a:solidFill>
              </a:rPr>
              <a:t>ON</a:t>
            </a:r>
            <a:r>
              <a:rPr lang="en-US" dirty="0"/>
              <a:t> clause to specify </a:t>
            </a:r>
            <a:r>
              <a:rPr lang="en-US" dirty="0">
                <a:solidFill>
                  <a:srgbClr val="C00000"/>
                </a:solidFill>
              </a:rPr>
              <a:t>arbitrary conditions </a:t>
            </a:r>
            <a:r>
              <a:rPr lang="en-US" dirty="0"/>
              <a:t>or specify columns to join.</a:t>
            </a:r>
          </a:p>
          <a:p>
            <a:r>
              <a:rPr lang="en-US" dirty="0"/>
              <a:t>The join condition is separated from other search conditions.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4472C4"/>
                </a:solidFill>
              </a:rPr>
              <a:t>ON</a:t>
            </a:r>
            <a:r>
              <a:rPr lang="en-US" dirty="0"/>
              <a:t> clause makes code easy to understand.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2ED51-2E26-4B25-BF28-F78FE2B7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13396-833F-43C6-B00E-12CB4D30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894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2385-7F32-4EE9-9212-6F827020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2046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JOIN…ON</a:t>
            </a:r>
            <a:endParaRPr lang="en-MY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519ED-6762-4DCF-BEB3-30ABC94BC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6187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64559-88EA-4F40-BC8E-ADAE6264B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A48AF-8AEC-42DB-B8A5-921D25C2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F89E3-6197-4D08-B7FC-4CDB545DFF5B}"/>
              </a:ext>
            </a:extLst>
          </p:cNvPr>
          <p:cNvSpPr txBox="1"/>
          <p:nvPr/>
        </p:nvSpPr>
        <p:spPr>
          <a:xfrm>
            <a:off x="773045" y="2554581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department_id, department_name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56998-4719-467A-B5EA-BA7D3717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307" y="4075435"/>
            <a:ext cx="4779539" cy="210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75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CF5F-DFE5-4102-9BC2-EF1191DFD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3944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JOIN…ON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C2C63-D75B-4FEC-BB46-B046C2948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6187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MY" b="1" dirty="0"/>
              <a:t>Query 4:</a:t>
            </a:r>
          </a:p>
          <a:p>
            <a:r>
              <a:rPr lang="en-US" dirty="0"/>
              <a:t>List all employee id, first name, last name, department name and department location id.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1717-3022-4B99-BF9D-7FC2F718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F56FA-E637-40D2-AA79-C02096EA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86FD5-CFD0-4926-A9A2-0CF744E0EA4B}"/>
              </a:ext>
            </a:extLst>
          </p:cNvPr>
          <p:cNvSpPr txBox="1"/>
          <p:nvPr/>
        </p:nvSpPr>
        <p:spPr>
          <a:xfrm>
            <a:off x="804942" y="2581890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location_id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DDC34-C301-43A0-B294-DBB3BF716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073" y="4075435"/>
            <a:ext cx="4548484" cy="210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93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2C45-C499-4532-88E8-97677B9D7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10781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JOIN…ON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FFB57-C014-4679-82A0-DAE0C4B9C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7339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MY" b="1" dirty="0"/>
              <a:t>Query 4b:</a:t>
            </a:r>
          </a:p>
          <a:p>
            <a:r>
              <a:rPr lang="en-US" dirty="0"/>
              <a:t>List all employee id, first name, last name, department name and city.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2547-9F2F-4C24-B95E-2721D941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5996B-D16B-499C-B934-D1F03987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C84B8-D955-4BBB-B8FE-C9A34F1738F9}"/>
              </a:ext>
            </a:extLst>
          </p:cNvPr>
          <p:cNvSpPr txBox="1"/>
          <p:nvPr/>
        </p:nvSpPr>
        <p:spPr>
          <a:xfrm>
            <a:off x="815574" y="2360700"/>
            <a:ext cx="7886700" cy="138499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city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 d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d.department_id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locations l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d.location_id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l.location_id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293389-90E6-4380-A338-218108E1B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512" y="4097734"/>
            <a:ext cx="4417088" cy="18815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6F62C4-EEEA-4F3F-A9A0-8E808A5A3103}"/>
              </a:ext>
            </a:extLst>
          </p:cNvPr>
          <p:cNvSpPr/>
          <p:nvPr/>
        </p:nvSpPr>
        <p:spPr>
          <a:xfrm>
            <a:off x="322939" y="4506323"/>
            <a:ext cx="1832327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Using </a:t>
            </a:r>
            <a:r>
              <a:rPr lang="en-US" b="1" dirty="0">
                <a:solidFill>
                  <a:srgbClr val="0070C0"/>
                </a:solidFill>
              </a:rPr>
              <a:t>JOIN…ON </a:t>
            </a:r>
            <a:r>
              <a:rPr lang="en-US" dirty="0">
                <a:solidFill>
                  <a:srgbClr val="000000"/>
                </a:solidFill>
              </a:rPr>
              <a:t>with multiple tables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05892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3A6A2-31E6-4982-815A-EE562FC4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3366"/>
            <a:ext cx="8314383" cy="128111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APPLYING ADDITIONAL CONDITIONS 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TO A JOIN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EC18-5575-44CD-AC32-D9924EC59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</a:t>
            </a:r>
            <a:r>
              <a:rPr lang="en-US" b="1" dirty="0">
                <a:solidFill>
                  <a:srgbClr val="0070C0"/>
                </a:solidFill>
              </a:rPr>
              <a:t>AND</a:t>
            </a:r>
            <a:r>
              <a:rPr lang="en-US" dirty="0"/>
              <a:t> clause or the </a:t>
            </a:r>
            <a:r>
              <a:rPr lang="en-US" b="1" dirty="0">
                <a:solidFill>
                  <a:srgbClr val="0070C0"/>
                </a:solidFill>
              </a:rPr>
              <a:t>WHERE</a:t>
            </a:r>
            <a:r>
              <a:rPr lang="en-US" dirty="0"/>
              <a:t> clause to apply additional conditions: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D350F-A089-4C0F-B3B3-FA0F9B30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BB7F0-D95E-4C09-B86F-8683F84B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1811A7-E465-49F6-9993-45AE505B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202" y="2407920"/>
            <a:ext cx="6857595" cy="345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95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85C4-F27A-4857-B9FA-98A95443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SELF-JOIN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9D1B0-BDB4-4604-AB39-B92F27346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self join is a special form of equijoin or </a:t>
            </a:r>
            <a:r>
              <a:rPr lang="en-US" b="1" dirty="0">
                <a:solidFill>
                  <a:srgbClr val="0070C0"/>
                </a:solidFill>
              </a:rPr>
              <a:t>INNER JOIN </a:t>
            </a:r>
            <a:r>
              <a:rPr lang="en-US" dirty="0"/>
              <a:t>where a table is </a:t>
            </a:r>
            <a:r>
              <a:rPr lang="en-US" b="1" dirty="0"/>
              <a:t>joined against itself</a:t>
            </a:r>
            <a:r>
              <a:rPr lang="en-US" dirty="0"/>
              <a:t>.</a:t>
            </a:r>
          </a:p>
          <a:p>
            <a:r>
              <a:rPr lang="en-US" dirty="0"/>
              <a:t>This means that the table </a:t>
            </a:r>
            <a:r>
              <a:rPr lang="en-US" b="1" dirty="0"/>
              <a:t>must exists two times </a:t>
            </a:r>
            <a:r>
              <a:rPr lang="en-US" dirty="0"/>
              <a:t>in the </a:t>
            </a: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of the SQL query.</a:t>
            </a:r>
          </a:p>
          <a:p>
            <a:r>
              <a:rPr lang="en-US" dirty="0"/>
              <a:t>Note that when joining a table to itself </a:t>
            </a:r>
            <a:r>
              <a:rPr lang="en-US" b="1" dirty="0">
                <a:solidFill>
                  <a:srgbClr val="C00000"/>
                </a:solidFill>
              </a:rPr>
              <a:t>an alias must be used</a:t>
            </a:r>
            <a:r>
              <a:rPr lang="en-US" dirty="0"/>
              <a:t> for each of the tables in the </a:t>
            </a: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and then also used in the select list and </a:t>
            </a:r>
            <a:r>
              <a:rPr lang="en-US" b="1" dirty="0">
                <a:solidFill>
                  <a:srgbClr val="0070C0"/>
                </a:solidFill>
              </a:rPr>
              <a:t>WHERE</a:t>
            </a:r>
            <a:r>
              <a:rPr lang="en-US" dirty="0"/>
              <a:t> clause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ED31B-61D1-473E-855A-DE366BEC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CF36E-B8D2-4E8E-AFE4-0AE6E1B5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3492D-0E61-4CA9-8575-086D4A36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653" y="4334667"/>
            <a:ext cx="3048413" cy="200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98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6175-B3AB-4F9B-8D0D-FCB6403A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chemeClr val="accent1"/>
                </a:solidFill>
              </a:rPr>
              <a:t>JOIN…ON </a:t>
            </a:r>
            <a:r>
              <a:rPr lang="en-MY" sz="3600" b="1" dirty="0">
                <a:solidFill>
                  <a:schemeClr val="accent1"/>
                </a:solidFill>
              </a:rPr>
              <a:t>using INNER JOIN…ON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AC16-F791-48A4-A24F-82C47F4D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5:</a:t>
            </a:r>
          </a:p>
          <a:p>
            <a:r>
              <a:rPr lang="en-US" dirty="0"/>
              <a:t>List all employee id, first name, last name and their manager’s id and first name, last name.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D152-5F6C-416E-BB5E-84540B0E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D2C46-3424-4EB1-BB20-EBB4A99B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6E0AD-5D99-4CFD-B820-F81CD937E307}"/>
              </a:ext>
            </a:extLst>
          </p:cNvPr>
          <p:cNvSpPr txBox="1"/>
          <p:nvPr/>
        </p:nvSpPr>
        <p:spPr>
          <a:xfrm>
            <a:off x="836840" y="2984803"/>
            <a:ext cx="7886700" cy="116955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746125" indent="-746125"/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MANAGER_FNAME,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MANAGER_LNAME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INNER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m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e.manager_id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D1F63-3765-4CD7-A830-647D822C4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602" y="4290879"/>
            <a:ext cx="5443595" cy="18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55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6175-B3AB-4F9B-8D0D-FCB6403A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SELF JOIN using INNER JOIN…ON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AC16-F791-48A4-A24F-82C47F4D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5:</a:t>
            </a:r>
          </a:p>
          <a:p>
            <a:r>
              <a:rPr lang="en-US" dirty="0"/>
              <a:t>List all employee id, first name, last name and their manager’s id and first name, last name.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D152-5F6C-416E-BB5E-84540B0E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D2C46-3424-4EB1-BB20-EBB4A99B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6E0AD-5D99-4CFD-B820-F81CD937E307}"/>
              </a:ext>
            </a:extLst>
          </p:cNvPr>
          <p:cNvSpPr txBox="1"/>
          <p:nvPr/>
        </p:nvSpPr>
        <p:spPr>
          <a:xfrm>
            <a:off x="836840" y="2984803"/>
            <a:ext cx="7886700" cy="116955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746125" indent="-746125"/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MANAGER_FNAME,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MANAGER_LNAME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m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e.manager_id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D1F63-3765-4CD7-A830-647D822C4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602" y="4290879"/>
            <a:ext cx="5443595" cy="1866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259893-0FA9-49E2-B07C-FCF56545947C}"/>
              </a:ext>
            </a:extLst>
          </p:cNvPr>
          <p:cNvSpPr/>
          <p:nvPr/>
        </p:nvSpPr>
        <p:spPr>
          <a:xfrm>
            <a:off x="100519" y="4470266"/>
            <a:ext cx="1752996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JOIN </a:t>
            </a:r>
            <a:r>
              <a:rPr lang="en-US" sz="1400" dirty="0"/>
              <a:t>and</a:t>
            </a:r>
            <a:r>
              <a:rPr lang="en-US" sz="1400" b="1" dirty="0">
                <a:solidFill>
                  <a:srgbClr val="0070C0"/>
                </a:solidFill>
              </a:rPr>
              <a:t> INNER JOIN </a:t>
            </a:r>
            <a:r>
              <a:rPr lang="en-US" sz="1400" dirty="0"/>
              <a:t>are functionally equivalent</a:t>
            </a: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79515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3B98-857F-47B2-AE06-60D18D088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SELF JOIN using INNER JOIN…ON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39D66-5C47-4EEE-9A4C-892963B66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6:</a:t>
            </a:r>
          </a:p>
          <a:p>
            <a:r>
              <a:rPr lang="en-US" dirty="0"/>
              <a:t>List all employee </a:t>
            </a:r>
            <a:r>
              <a:rPr lang="en-MY" dirty="0"/>
              <a:t>who are the manager.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79AB0-C7E6-4C8C-9393-AE1B1ABA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CA867-22A7-4891-A93D-2C5C08C5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95C7D-80E4-4B1B-85EB-FD3B180CC543}"/>
              </a:ext>
            </a:extLst>
          </p:cNvPr>
          <p:cNvSpPr txBox="1"/>
          <p:nvPr/>
        </p:nvSpPr>
        <p:spPr>
          <a:xfrm>
            <a:off x="853316" y="2742049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746125" indent="-746125"/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 DISTINCT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e.manager_id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m.last_name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INNER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m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e.manager_id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478463-A327-4871-85D4-2FD393C81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52" y="3911600"/>
            <a:ext cx="3072296" cy="226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69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DEB5-64AC-4546-9193-F8441840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INNER JOIN…ON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93751-04A9-4626-ACD7-26A679467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DAFF3-175F-4EAC-B3F4-AAB4BFCE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3B46D-70EE-4BD2-BE88-22945F03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D123F-B400-4D09-9439-7490EDF9BF33}"/>
              </a:ext>
            </a:extLst>
          </p:cNvPr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department_id, department_name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INNER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88C26-E33D-49C4-86AD-013E1D0E4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00" y="4121049"/>
            <a:ext cx="4675799" cy="2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400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DEB5-64AC-4546-9193-F8441840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INNER JOIN…ON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93751-04A9-4626-ACD7-26A679467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4:</a:t>
            </a:r>
          </a:p>
          <a:p>
            <a:r>
              <a:rPr lang="en-US" dirty="0"/>
              <a:t>List all employee id, first name, last name, department name and department location id.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DAFF3-175F-4EAC-B3F4-AAB4BFCE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3B46D-70EE-4BD2-BE88-22945F03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5F2D5-DE96-4599-A1A7-332831312F9B}"/>
              </a:ext>
            </a:extLst>
          </p:cNvPr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location_id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INNER JOIN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A2628E-835C-4ADB-B344-B74B79FA7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035" y="4085776"/>
            <a:ext cx="4526102" cy="209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30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7983-4E84-4FDF-8CF9-464C00A7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Practice in-class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00C10-B3D1-4D13-B8C7-E7EE919C6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Create two tables called members and committees</a:t>
            </a:r>
          </a:p>
          <a:p>
            <a:pPr lvl="1"/>
            <a:r>
              <a:rPr lang="en-US" dirty="0"/>
              <a:t>Member:  </a:t>
            </a:r>
          </a:p>
          <a:p>
            <a:pPr lvl="2"/>
            <a:r>
              <a:rPr lang="en-US" dirty="0"/>
              <a:t>Attribute 1:  </a:t>
            </a:r>
            <a:r>
              <a:rPr lang="en-US" dirty="0" err="1"/>
              <a:t>member_id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value autoincrement  int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Attribute 2:  name  100 char length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PK: </a:t>
            </a:r>
            <a:r>
              <a:rPr lang="en-US" dirty="0" err="1">
                <a:sym typeface="Wingdings" panose="05000000000000000000" pitchFamily="2" charset="2"/>
              </a:rPr>
              <a:t>member_id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Committees: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Attribute 1: </a:t>
            </a:r>
            <a:r>
              <a:rPr lang="en-US" dirty="0" err="1">
                <a:sym typeface="Wingdings" panose="05000000000000000000" pitchFamily="2" charset="2"/>
              </a:rPr>
              <a:t>committee_id</a:t>
            </a:r>
            <a:r>
              <a:rPr lang="en-US" dirty="0">
                <a:sym typeface="Wingdings" panose="05000000000000000000" pitchFamily="2" charset="2"/>
              </a:rPr>
              <a:t>  value autoincrement   int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Attribute 2:  name   100 char length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PK:  </a:t>
            </a:r>
            <a:r>
              <a:rPr lang="en-US" dirty="0" err="1">
                <a:sym typeface="Wingdings" panose="05000000000000000000" pitchFamily="2" charset="2"/>
              </a:rPr>
              <a:t>committee_id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Insert values into these two tables: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Member:  (John, Jane, Mary, David, Amelia)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Committees:  (John, Mary, Amelia, Joe)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2A54E-9227-449D-A7A3-92A6D8AF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771DE-4B48-4875-A615-E19970F4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889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BFA0-9EF0-4FAC-8AEB-F3F91C5C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Practice in-class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35A2-BAFE-4A4F-AA84-83D267301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-apple-system"/>
              </a:rPr>
              <a:t>F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inds members who are also the committee members using: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simple join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NATURAL JOIN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INNER JOIN … 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JOIN … ON</a:t>
            </a:r>
          </a:p>
          <a:p>
            <a:r>
              <a:rPr lang="en-US" dirty="0"/>
              <a:t>Use outer join to the following queries:</a:t>
            </a:r>
          </a:p>
          <a:p>
            <a:pPr lvl="1"/>
            <a:r>
              <a:rPr lang="en-US" dirty="0"/>
              <a:t>List the status of committee all members, </a:t>
            </a:r>
            <a:r>
              <a:rPr lang="en-US" dirty="0" err="1"/>
              <a:t>i.e</a:t>
            </a:r>
            <a:r>
              <a:rPr lang="en-US" dirty="0"/>
              <a:t> committee and not-committee</a:t>
            </a:r>
          </a:p>
          <a:p>
            <a:pPr lvl="1"/>
            <a:r>
              <a:rPr lang="en-US" dirty="0"/>
              <a:t>List the status of membership for all  committees, </a:t>
            </a:r>
            <a:r>
              <a:rPr lang="en-US" dirty="0" err="1"/>
              <a:t>i.e</a:t>
            </a:r>
            <a:r>
              <a:rPr lang="en-US" dirty="0"/>
              <a:t> member or not-member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86DC-841E-4D26-A684-EED4A076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2172E-1F17-478F-A6E5-B006ED0D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391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48357-C452-45CF-B64D-F2F75DD4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04AB-57AB-44E7-BE63-044D9F596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times we need to return rows from one table even if there are no matching rows that are produced through a join condition. For this situation, we use outer joins.</a:t>
            </a:r>
          </a:p>
          <a:p>
            <a:r>
              <a:rPr lang="en-US" dirty="0"/>
              <a:t>Outer joins: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LEFT OUTER JOIN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RIGHT OUTER JOIN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FULL OUTER JOIN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61E30-68B4-40F0-AA5C-2ACC3C06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FF8E4-19CF-40E3-8822-B0CCB0B6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170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C6B3-F8CA-4A98-934F-732F4104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LEFT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02C5-B7F6-4C70-9785-97001255A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left outer join is where the table, on the left of a </a:t>
            </a: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is required to </a:t>
            </a:r>
            <a:r>
              <a:rPr lang="en-US" b="1" dirty="0">
                <a:solidFill>
                  <a:srgbClr val="C00000"/>
                </a:solidFill>
              </a:rPr>
              <a:t>return all of its rows </a:t>
            </a:r>
            <a:r>
              <a:rPr lang="en-US" dirty="0"/>
              <a:t>regardless of having matching rows from the table it is being joined on.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D3D42-C9F4-4577-BE62-5A7C9CE4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9881-7DCA-4F70-BB52-36B4AA88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C103C-8273-46F1-8FFE-4C422641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922" y="3295135"/>
            <a:ext cx="3048413" cy="212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9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C4F7-0C41-4DCD-BD65-DF96CC10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LEFT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10CD5-A660-4E91-8583-BC04432D8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7:</a:t>
            </a:r>
          </a:p>
          <a:p>
            <a:r>
              <a:rPr lang="en-US" dirty="0"/>
              <a:t>List all department with all its employees, including all department without employee.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A93B-1508-4813-B9C8-87264ED2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C1954-3AFE-43B0-8CD5-B1C9E460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3AEE-ED84-4E3D-8978-D9A339FD3E1C}"/>
              </a:ext>
            </a:extLst>
          </p:cNvPr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LEFT OUTER JOIN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37B574-380A-4FC7-809D-DC71F90C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671" y="4133821"/>
            <a:ext cx="4010658" cy="217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17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C6B3-F8CA-4A98-934F-732F41044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44697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RIGHT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02C5-B7F6-4C70-9785-97001255A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right outer join is just the opposite of a left outer join. It states that you would like all rows from the right table in the </a:t>
            </a: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to be returned regardless of having a true match defined in the WHERE clause against the left side table in the FROM clause.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D3D42-C9F4-4577-BE62-5A7C9CE4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9881-7DCA-4F70-BB52-36B4AA88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6BC5DF-F3E9-46EF-B263-685A79E5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93" y="3739979"/>
            <a:ext cx="3048413" cy="198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8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8476B-6E55-4B8B-A26B-8294463C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25721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RIGHT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415BA-EE2F-45B3-A4A5-C4BC9D615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8:</a:t>
            </a:r>
          </a:p>
          <a:p>
            <a:r>
              <a:rPr lang="en-US" dirty="0"/>
              <a:t>List all employees with their departments, including all employees without department.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01498-E854-4C99-9AF6-829E0AF2F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ADD0A-00A4-4E6C-9AE1-CDDCD335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5533F-6D49-47B8-9293-E28E715A1815}"/>
              </a:ext>
            </a:extLst>
          </p:cNvPr>
          <p:cNvSpPr txBox="1"/>
          <p:nvPr/>
        </p:nvSpPr>
        <p:spPr>
          <a:xfrm>
            <a:off x="836840" y="2984803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RIGHT OUTER JOIN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B1FE6B-59FC-456D-957F-96E3BCCD1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564" y="4075435"/>
            <a:ext cx="3459043" cy="194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73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F591-1F3E-47E9-A5EE-39F6D7C0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FULL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0857-2E98-4665-AAA8-2C096CBE4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both left and right sides of a query regardless of having a match.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C2AC3-ABD1-452E-AFF2-6E6A959DB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8AD98-4EEF-4BFD-9C2C-E5C01BAA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4A0144-E0EA-404C-963B-7174A41C6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39" y="2764787"/>
            <a:ext cx="3048413" cy="229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749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3864-A1C0-4324-A83A-9585DA7C7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74" y="365126"/>
            <a:ext cx="4922047" cy="840523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FULL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E1BB-7E9F-41BD-B94A-061FCC3A3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46238"/>
            <a:ext cx="6013899" cy="4530725"/>
          </a:xfrm>
        </p:spPr>
        <p:txBody>
          <a:bodyPr/>
          <a:lstStyle/>
          <a:p>
            <a:r>
              <a:rPr lang="en-US" dirty="0"/>
              <a:t>How can we get the records for all employees AND all departments whether they are missing data or not?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13EAC-8F2D-48D8-8106-BACB1C18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A07CF-527F-4BFE-81AC-B06B1A570A4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53048-0132-4C99-AB98-68C540BE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3358C-2AE4-4F4B-B61A-AC179C6204D0}"/>
              </a:ext>
            </a:extLst>
          </p:cNvPr>
          <p:cNvSpPr txBox="1"/>
          <p:nvPr/>
        </p:nvSpPr>
        <p:spPr>
          <a:xfrm>
            <a:off x="209699" y="2811487"/>
            <a:ext cx="6432849" cy="162988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department_name,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endParaRPr lang="en-MY" sz="20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pPr marL="457200"/>
            <a:r>
              <a:rPr lang="en-MY" sz="20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20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pPr marL="457200"/>
            <a:r>
              <a:rPr lang="en-MY" sz="20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FULL OUTER JOIN 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pPr marL="457200"/>
            <a:r>
              <a:rPr lang="en-MY" sz="20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20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20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20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1BFD0C-04E5-4BB9-8CFC-98DD5615F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549" y="707290"/>
            <a:ext cx="2224177" cy="56339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B0E7A1-51A8-4306-83FB-8CC944827E84}"/>
              </a:ext>
            </a:extLst>
          </p:cNvPr>
          <p:cNvSpPr/>
          <p:nvPr/>
        </p:nvSpPr>
        <p:spPr>
          <a:xfrm>
            <a:off x="6642549" y="1309817"/>
            <a:ext cx="1727094" cy="241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C06140-E6B3-4EC0-B6BD-DB7B5E117CAA}"/>
              </a:ext>
            </a:extLst>
          </p:cNvPr>
          <p:cNvSpPr/>
          <p:nvPr/>
        </p:nvSpPr>
        <p:spPr>
          <a:xfrm>
            <a:off x="6642549" y="5307096"/>
            <a:ext cx="1727094" cy="10340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07237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40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3429000"/>
            <a:ext cx="3995252" cy="3006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17" y="3028051"/>
            <a:ext cx="3995252" cy="3006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3" y="2870567"/>
            <a:ext cx="2709212" cy="9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03374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Slide Template DB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Slide Template DB</Template>
  <TotalTime>620</TotalTime>
  <Words>2222</Words>
  <Application>Microsoft Office PowerPoint</Application>
  <PresentationFormat>On-screen Show (4:3)</PresentationFormat>
  <Paragraphs>324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Cascadia Code</vt:lpstr>
      <vt:lpstr>Calibri</vt:lpstr>
      <vt:lpstr>Aptos</vt:lpstr>
      <vt:lpstr>Montserrat Semi</vt:lpstr>
      <vt:lpstr>Wingdings</vt:lpstr>
      <vt:lpstr>-apple-system</vt:lpstr>
      <vt:lpstr>Lecture Slide Template DB</vt:lpstr>
      <vt:lpstr>PowerPoint Presentation</vt:lpstr>
      <vt:lpstr>LECTURE LEARNING OUTCOME</vt:lpstr>
      <vt:lpstr>SUBQUERIES</vt:lpstr>
      <vt:lpstr>PowerPoint Presentation</vt:lpstr>
      <vt:lpstr>SUBQUERIES</vt:lpstr>
      <vt:lpstr>OBTAINING DATA FROM MULTIPLE TABLES</vt:lpstr>
      <vt:lpstr>OBTAINING DATA FROM MULTIPLE TABLES</vt:lpstr>
      <vt:lpstr>SIMPLE JOIN / TRADITIONAL METHOD</vt:lpstr>
      <vt:lpstr>SIMPLE JOIN / TRADITIONAL METHOD</vt:lpstr>
      <vt:lpstr>SIMPLE JOIN / TRADITIONAL METHOD</vt:lpstr>
      <vt:lpstr>JOINING TABLES USING SQL:1999 SYNTAX</vt:lpstr>
      <vt:lpstr>EQUIJOIN (NATURAL JOIN, JOIN…USING, JOIN…ON, INNER JOIN…ON)</vt:lpstr>
      <vt:lpstr>NATURAL JOIN</vt:lpstr>
      <vt:lpstr>NATURAL JOIN</vt:lpstr>
      <vt:lpstr>NATURAL JOIN</vt:lpstr>
      <vt:lpstr>NATURAL JOIN</vt:lpstr>
      <vt:lpstr>NATURAL JOIN</vt:lpstr>
      <vt:lpstr>JOIN…USING</vt:lpstr>
      <vt:lpstr>JOIN…USING</vt:lpstr>
      <vt:lpstr>JOIN… ON</vt:lpstr>
      <vt:lpstr>JOIN…ON</vt:lpstr>
      <vt:lpstr>JOIN…ON</vt:lpstr>
      <vt:lpstr>JOIN…ON</vt:lpstr>
      <vt:lpstr>APPLYING ADDITIONAL CONDITIONS  TO A JOIN</vt:lpstr>
      <vt:lpstr>SELF-JOIN</vt:lpstr>
      <vt:lpstr>JOIN…ON using INNER JOIN…ON</vt:lpstr>
      <vt:lpstr>SELF JOIN using INNER JOIN…ON</vt:lpstr>
      <vt:lpstr>SELF JOIN using INNER JOIN…ON</vt:lpstr>
      <vt:lpstr>INNER JOIN…ON</vt:lpstr>
      <vt:lpstr>INNER JOIN…ON</vt:lpstr>
      <vt:lpstr>Practice in-class</vt:lpstr>
      <vt:lpstr>Practice in-class</vt:lpstr>
      <vt:lpstr>OUTER JOIN</vt:lpstr>
      <vt:lpstr>LEFT OUTER JOIN</vt:lpstr>
      <vt:lpstr>LEFT OUTER JOIN</vt:lpstr>
      <vt:lpstr>RIGHT OUTER JOIN</vt:lpstr>
      <vt:lpstr>RIGHT OUTER JOIN</vt:lpstr>
      <vt:lpstr>FULL OUTER JOIN</vt:lpstr>
      <vt:lpstr>FULL OUTER JOIN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</dc:title>
  <dc:creator>acidfed</dc:creator>
  <cp:lastModifiedBy>ROZILAWATI BINTI DOLLAH @ MD. ZAIN</cp:lastModifiedBy>
  <cp:revision>41</cp:revision>
  <dcterms:created xsi:type="dcterms:W3CDTF">2019-01-07T08:53:00Z</dcterms:created>
  <dcterms:modified xsi:type="dcterms:W3CDTF">2025-10-29T14:16:41Z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